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74" r:id="rId3"/>
    <p:sldId id="257" r:id="rId4"/>
    <p:sldId id="258" r:id="rId5"/>
    <p:sldId id="259" r:id="rId6"/>
    <p:sldId id="260" r:id="rId7"/>
    <p:sldId id="261" r:id="rId8"/>
    <p:sldId id="262" r:id="rId9"/>
    <p:sldId id="264" r:id="rId10"/>
    <p:sldId id="263" r:id="rId11"/>
    <p:sldId id="273"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8" d="100"/>
          <a:sy n="88" d="100"/>
        </p:scale>
        <p:origin x="46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project, your identity and supervisor. Frame the system as evidence-assisted Bangla news verification. Source: report cover and abstract.</a:t>
            </a:r>
          </a:p>
          <a:p>
            <a:endParaRPr/>
          </a:p>
          <a:p>
            <a:r>
              <a:t>Source: BSSE_1425_BanglaFactGuard_Final_Report.pdf, supplied final report. Screenshots are original report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346B8-8367-298A-C5C8-24DA484D6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22372E-F457-D36D-F768-AE01C10BD8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F143C8-B6D3-4C77-0556-9CF4EA9E44D2}"/>
              </a:ext>
            </a:extLst>
          </p:cNvPr>
          <p:cNvSpPr>
            <a:spLocks noGrp="1"/>
          </p:cNvSpPr>
          <p:nvPr>
            <p:ph type="body" idx="1"/>
          </p:nvPr>
        </p:nvSpPr>
        <p:spPr/>
        <p:txBody>
          <a:bodyPr/>
          <a:lstStyle/>
          <a:p>
            <a:r>
              <a:t>Explain how a believable logo or recycled date can conceal a changed claim. Manual checking involves finding the source, comparing the headline and checking context. Source: report section 1.1, page 10.</a:t>
            </a:r>
          </a:p>
          <a:p>
            <a:endParaRPr/>
          </a:p>
          <a:p>
            <a:r>
              <a:t>Source: BSSE_1425_BanglaFactGuard_Final_Report.pdf, supplied final report. Screenshots are original report figures.</a:t>
            </a:r>
          </a:p>
        </p:txBody>
      </p:sp>
      <p:sp>
        <p:nvSpPr>
          <p:cNvPr id="4" name="Slide Number Placeholder 3">
            <a:extLst>
              <a:ext uri="{FF2B5EF4-FFF2-40B4-BE49-F238E27FC236}">
                <a16:creationId xmlns:a16="http://schemas.microsoft.com/office/drawing/2014/main" id="{DF12D448-5711-AB4C-978A-B7E23A8AEE2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762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how a believable logo or recycled date can conceal a changed claim. Manual checking involves finding the source, comparing the headline and checking context. Source: report section 1.1, page 10.</a:t>
            </a:r>
          </a:p>
          <a:p>
            <a:endParaRPr/>
          </a:p>
          <a:p>
            <a:r>
              <a:t>Source: BSSE_1425_BanglaFactGuard_Final_Report.pdf, supplied final report. Screenshots are original report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the three entry points. Text and photocards use retrieved publisher evidence; text-and-image uses a trained multimodal classifier. Source: report abstract and sections 1.2, 5 and 10.3.</a:t>
            </a:r>
          </a:p>
          <a:p>
            <a:endParaRPr/>
          </a:p>
          <a:p>
            <a:r>
              <a:t>Source: BSSE_1425_BanglaFactGuard_Final_Report.pdf, supplied final report. Screenshots are original report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Guests can submit. Registered accounts retain personal history and notifications. Expert and administrator responsibilities remain on the website. Source: report sections 1.5, 7 and 10.</a:t>
            </a:r>
          </a:p>
          <a:p>
            <a:endParaRPr/>
          </a:p>
          <a:p>
            <a:r>
              <a:t>Source: BSSE_1425_BanglaFactGuard_Final_Report.pdf, supplied final report. Screenshots are original report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layers from browser to backend to verification services and persistence. PostgreSQL stores durable jobs; an in-process worker executes them. Gemini supports photocard reading. Source: report sections 6.1, 6.3 and 6.5.</a:t>
            </a:r>
          </a:p>
          <a:p>
            <a:endParaRPr/>
          </a:p>
          <a:p>
            <a:r>
              <a:t>Source: BSSE_1425_BanglaFactGuard_Final_Report.pdf, supplied final report. Screenshots are original report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Summarize stages S01-S13. Headline comparison uses the retrieved article title. Source correspondence, headline alteration and date consistency are separate findings. Similarity is not a probability of truth. Source: report section 5.2, pages 28-29.</a:t>
            </a:r>
          </a:p>
          <a:p>
            <a:endParaRPr/>
          </a:p>
          <a:p>
            <a:r>
              <a:t>Source: BSSE_1425_BanglaFactGuard_Final_Report.pdf, supplied final report. Screenshots are original report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BanglaBERT encodes body text and EfficientNet-B4 encodes the image, then concatenate features for classification. The headline is retained for display. Source: report section 5.1.1, page 26.</a:t>
            </a:r>
          </a:p>
          <a:p>
            <a:endParaRPr/>
          </a:p>
          <a:p>
            <a:r>
              <a:t>Source: BSSE_1425_BanglaFactGuard_Final_Report.pdf, supplied final report. Screenshots are original report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Experts review evidence and submit justified votes. Voting uses configured minimum participation, threshold and lead margin. Unresolved claims can escalate to administrators. Source: report sections 6.4.3, 8.3.4 and 10.8-10.9.</a:t>
            </a:r>
          </a:p>
          <a:p>
            <a:endParaRPr/>
          </a:p>
          <a:p>
            <a:r>
              <a:t>Source: BSSE_1425_BanglaFactGuard_Final_Report.pdf, supplied final report. Screenshots are original report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technologies by their responsibilities. Source: report Table 8.1, page 52. Versions are those documented in the report.</a:t>
            </a:r>
          </a:p>
          <a:p>
            <a:endParaRPr/>
          </a:p>
          <a:p>
            <a:r>
              <a:t>Source: BSSE_1425_BanglaFactGuard_Final_Report.pdf, supplied final report. Screenshots are original report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6E8C8-2F5A-58F5-3073-4BBA58167F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7B658-BE00-0D4B-1CF8-9E6419EBA5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0447ED-EB05-AE68-4217-A4011DE43342}"/>
              </a:ext>
            </a:extLst>
          </p:cNvPr>
          <p:cNvSpPr>
            <a:spLocks noGrp="1"/>
          </p:cNvSpPr>
          <p:nvPr>
            <p:ph type="body" idx="1"/>
          </p:nvPr>
        </p:nvSpPr>
        <p:spPr/>
        <p:txBody>
          <a:bodyPr/>
          <a:lstStyle/>
          <a:p>
            <a:r>
              <a:t>Describe technologies by their responsibilities. Source: report Table 8.1, page 52. Versions are those documented in the report.</a:t>
            </a:r>
          </a:p>
          <a:p>
            <a:endParaRPr/>
          </a:p>
          <a:p>
            <a:r>
              <a:t>Source: BSSE_1425_BanglaFactGuard_Final_Report.pdf, supplied final report. Screenshots are original report figures.</a:t>
            </a:r>
          </a:p>
        </p:txBody>
      </p:sp>
      <p:sp>
        <p:nvSpPr>
          <p:cNvPr id="4" name="Slide Number Placeholder 3">
            <a:extLst>
              <a:ext uri="{FF2B5EF4-FFF2-40B4-BE49-F238E27FC236}">
                <a16:creationId xmlns:a16="http://schemas.microsoft.com/office/drawing/2014/main" id="{D5D63276-BFB0-3D08-F2C2-4DB36348A26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5898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demonstration, about 60 seconds. Open http://localhost:4200/verify. Use a prepared claim with a known source article. Explain that a job continues after leaving the form. If retrieval takes longer, open a saved report while the new job runs. Screenshot: report Figure 7.5, page 46.</a:t>
            </a:r>
          </a:p>
          <a:p>
            <a:endParaRPr/>
          </a:p>
          <a:p>
            <a:r>
              <a:t>Source: BSSE_1425_BanglaFactGuard_Final_Report.pdf, supplied final report. Screenshots are original report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demonstration, about 45 seconds. The report screenshot shows an Altered headline finding. Explain the specific difference displayed, without treating the screenshot as a new independent fact-check. Source: Figure 10.5, page 66.</a:t>
            </a:r>
          </a:p>
          <a:p>
            <a:endParaRPr/>
          </a:p>
          <a:p>
            <a:r>
              <a:t>Source: BSSE_1425_BanglaFactGuard_Final_Report.pdf, supplied final report. Screenshots are original report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demonstration, about 45 seconds. Prepare a readable photocard in advance and verify Gemini availability. If image extraction fails, show the explicit failure reason instead of calling the claim fake. Source: sections 10.3.2 and Figure 10.3, page 64.</a:t>
            </a:r>
          </a:p>
          <a:p>
            <a:endParaRPr/>
          </a:p>
          <a:p>
            <a:r>
              <a:t>Source: BSSE_1425_BanglaFactGuard_Final_Report.pdf, supplied final report. Screenshots are original report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demonstration, about 45 seconds. Pin the extension and open the side panel on the intended website. Select text or a screenshot area, preview the input, submit and show Activity. Open the full report using its website link. Show all three modes without waiting for three fresh jobs. Source: section 10.7 and Figure 10.10, page 69.</a:t>
            </a:r>
          </a:p>
          <a:p>
            <a:endParaRPr/>
          </a:p>
          <a:p>
            <a:r>
              <a:t>Source: BSSE_1425_BanglaFactGuard_Final_Report.pdf, supplied final report. Screenshots are original report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demonstration, about 45 seconds. Model inference uses article body text plus the image. Explain that the result is preliminary, and that the report screenshot illustrates reuse of a compatible previous assessment. Source: section 10.3.3 and Figure 10.4, pages 64-65.</a:t>
            </a:r>
          </a:p>
          <a:p>
            <a:endParaRPr/>
          </a:p>
          <a:p>
            <a:r>
              <a:t>Source: BSSE_1425_BanglaFactGuard_Final_Report.pdf, supplied final report. Screenshots are original report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limits candidly. End-to-end outcomes depend on extraction, retrieval and review. Local deployment is documented; the report does not claim a public production deployment. Source: sections 9.7, 11.8 and 12.</a:t>
            </a:r>
          </a:p>
          <a:p>
            <a:endParaRPr/>
          </a:p>
          <a:p>
            <a:r>
              <a:t>Source: BSSE_1425_BanglaFactGuard_Final_Report.pdf, supplied final report. Screenshots are original report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the repository during the presentation if needed. The repository link matches both report section 11.1 and the local Git origin. Demo addresses are local and require the project services to be running. Close with questions.</a:t>
            </a:r>
          </a:p>
          <a:p>
            <a:endParaRPr/>
          </a:p>
          <a:p>
            <a:r>
              <a:t>Source: BSSE_1425_BanglaFactGuard_Final_Report.pdf, supplied final report. Screenshots are original report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9FB6880-201E-443B-8725-2F747BB21A2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C60DF245-4EE8-4C2A-9EB6-344CFF4A68F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EC0B85C2-E71D-49E4-A0CB-BCA58B08548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CE9845D-32BE-4A63-AD31-E88D803467B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94352CA8-C32F-4E56-B82E-637FFDBB6CD5}"/>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4A42CD0-96E2-4EA6-8AB2-6BD9800AADF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3F0464B-38BC-4E5E-9249-E91A5B7BAF4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ADBB7B8B-57E0-44D8-ADF8-F037B906936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D6512F2-44D2-489E-BB19-57FCBEAA491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29FC1A4-F8E0-4731-A16A-26EAC241FDB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localhost:4200/"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3D3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860A8CA-C3A6-4794-8EEE-482E2CC9C337}"/>
              </a:ext>
            </a:extLst>
          </p:cNvPr>
          <p:cNvSpPr>
            <a:spLocks noGrp="1"/>
          </p:cNvSpPr>
          <p:nvPr/>
        </p:nvSpPr>
        <p:spPr>
          <a:xfrm>
            <a:off x="609600" y="428625"/>
            <a:ext cx="10972800" cy="742950"/>
          </a:xfrm>
          <a:prstGeom prst="rect">
            <a:avLst/>
          </a:prstGeom>
          <a:noFill/>
          <a:ln w="0">
            <a:noFill/>
          </a:ln>
        </p:spPr>
        <p:txBody>
          <a:bodyPr/>
          <a:lstStyle>
            <a:defPPr>
              <a:defRPr sz="3300" b="1">
                <a:solidFill>
                  <a:srgbClr val="FFFFFF"/>
                </a:solidFill>
                <a:latin typeface="Arial"/>
                <a:ea typeface="Arial"/>
                <a:cs typeface="Arial"/>
              </a:defRPr>
            </a:defPPr>
          </a:lstStyle>
          <a:p>
            <a:endParaRPr/>
          </a:p>
        </p:txBody>
      </p:sp>
      <p:sp>
        <p:nvSpPr>
          <p:cNvPr id="2" name="Rectangle 1">
            <a:extLst>
              <a:ext uri="{FF2B5EF4-FFF2-40B4-BE49-F238E27FC236}">
                <a16:creationId xmlns:a16="http://schemas.microsoft.com/office/drawing/2014/main" id="{DA4E42E0-8A3B-4E36-B655-8B60C624B138}"/>
              </a:ext>
            </a:extLst>
          </p:cNvPr>
          <p:cNvSpPr>
            <a:spLocks noGrp="1"/>
          </p:cNvSpPr>
          <p:nvPr/>
        </p:nvSpPr>
        <p:spPr>
          <a:xfrm>
            <a:off x="11049000" y="6305550"/>
            <a:ext cx="523875" cy="228600"/>
          </a:xfrm>
          <a:prstGeom prst="rect">
            <a:avLst/>
          </a:prstGeom>
          <a:noFill/>
          <a:ln w="0">
            <a:noFill/>
          </a:ln>
        </p:spPr>
        <p:txBody>
          <a:bodyPr/>
          <a:lstStyle>
            <a:defPPr>
              <a:defRPr sz="1275" b="0">
                <a:solidFill>
                  <a:srgbClr val="A9E4C7"/>
                </a:solidFill>
                <a:latin typeface="Arial"/>
                <a:ea typeface="Arial"/>
                <a:cs typeface="Arial"/>
              </a:defRPr>
            </a:defPPr>
          </a:lstStyle>
          <a:p>
            <a:pPr>
              <a:defRPr sz="1275" b="0">
                <a:solidFill>
                  <a:srgbClr val="A9E4C7"/>
                </a:solidFill>
                <a:latin typeface="Arial"/>
                <a:ea typeface="Arial"/>
                <a:cs typeface="Arial"/>
              </a:defRPr>
            </a:pPr>
            <a:r>
              <a:rPr sz="1275" b="0">
                <a:solidFill>
                  <a:srgbClr val="A9E4C7"/>
                </a:solidFill>
                <a:latin typeface="Arial"/>
                <a:ea typeface="Arial"/>
                <a:cs typeface="Arial"/>
              </a:rPr>
              <a:t>01</a:t>
            </a:r>
          </a:p>
        </p:txBody>
      </p:sp>
      <p:sp>
        <p:nvSpPr>
          <p:cNvPr id="3" name="Rectangle 2">
            <a:extLst>
              <a:ext uri="{FF2B5EF4-FFF2-40B4-BE49-F238E27FC236}">
                <a16:creationId xmlns:a16="http://schemas.microsoft.com/office/drawing/2014/main" id="{9DA1207E-6562-4D8A-BB90-F5505554C91A}"/>
              </a:ext>
            </a:extLst>
          </p:cNvPr>
          <p:cNvSpPr>
            <a:spLocks noGrp="1"/>
          </p:cNvSpPr>
          <p:nvPr/>
        </p:nvSpPr>
        <p:spPr>
          <a:xfrm>
            <a:off x="647700" y="742950"/>
            <a:ext cx="8572500" cy="381000"/>
          </a:xfrm>
          <a:prstGeom prst="rect">
            <a:avLst/>
          </a:prstGeom>
          <a:noFill/>
          <a:ln w="0">
            <a:noFill/>
          </a:ln>
        </p:spPr>
        <p:txBody>
          <a:bodyPr/>
          <a:lstStyle>
            <a:defPPr>
              <a:defRPr sz="1500" b="1">
                <a:solidFill>
                  <a:srgbClr val="A9E4C7"/>
                </a:solidFill>
                <a:latin typeface="Arial"/>
                <a:ea typeface="Arial"/>
                <a:cs typeface="Arial"/>
              </a:defRPr>
            </a:defPPr>
          </a:lstStyle>
          <a:p>
            <a:pPr>
              <a:defRPr sz="1500" b="1">
                <a:solidFill>
                  <a:srgbClr val="A9E4C7"/>
                </a:solidFill>
                <a:latin typeface="Arial"/>
                <a:ea typeface="Arial"/>
                <a:cs typeface="Arial"/>
              </a:defRPr>
            </a:pPr>
            <a:r>
              <a:rPr sz="1500" b="1">
                <a:solidFill>
                  <a:srgbClr val="A9E4C7"/>
                </a:solidFill>
                <a:latin typeface="Arial"/>
                <a:ea typeface="Arial"/>
                <a:cs typeface="Arial"/>
              </a:rPr>
              <a:t>FINAL PROJECT PRESENTATION</a:t>
            </a:r>
          </a:p>
        </p:txBody>
      </p:sp>
      <p:sp>
        <p:nvSpPr>
          <p:cNvPr id="4" name="Rectangle 3">
            <a:extLst>
              <a:ext uri="{FF2B5EF4-FFF2-40B4-BE49-F238E27FC236}">
                <a16:creationId xmlns:a16="http://schemas.microsoft.com/office/drawing/2014/main" id="{2326397A-0E93-4036-BA18-66011B51E8FC}"/>
              </a:ext>
            </a:extLst>
          </p:cNvPr>
          <p:cNvSpPr>
            <a:spLocks noGrp="1"/>
          </p:cNvSpPr>
          <p:nvPr/>
        </p:nvSpPr>
        <p:spPr>
          <a:xfrm>
            <a:off x="609600" y="1857375"/>
            <a:ext cx="10953750" cy="952500"/>
          </a:xfrm>
          <a:prstGeom prst="rect">
            <a:avLst/>
          </a:prstGeom>
          <a:noFill/>
          <a:ln w="0">
            <a:noFill/>
          </a:ln>
        </p:spPr>
        <p:txBody>
          <a:bodyPr/>
          <a:lstStyle>
            <a:defPPr>
              <a:defRPr sz="5700" b="1">
                <a:solidFill>
                  <a:srgbClr val="FFFFFF"/>
                </a:solidFill>
                <a:latin typeface="Arial"/>
                <a:ea typeface="Arial"/>
                <a:cs typeface="Arial"/>
              </a:defRPr>
            </a:defPPr>
          </a:lstStyle>
          <a:p>
            <a:pPr>
              <a:defRPr sz="5700" b="1">
                <a:solidFill>
                  <a:srgbClr val="FFFFFF"/>
                </a:solidFill>
                <a:latin typeface="Arial"/>
                <a:ea typeface="Arial"/>
                <a:cs typeface="Arial"/>
              </a:defRPr>
            </a:pPr>
            <a:r>
              <a:rPr sz="5700" b="1">
                <a:solidFill>
                  <a:srgbClr val="FFFFFF"/>
                </a:solidFill>
                <a:latin typeface="Arial"/>
                <a:ea typeface="Arial"/>
                <a:cs typeface="Arial"/>
              </a:rPr>
              <a:t>BanglaFactGuard</a:t>
            </a:r>
          </a:p>
        </p:txBody>
      </p:sp>
      <p:sp>
        <p:nvSpPr>
          <p:cNvPr id="5" name="Rectangle 4">
            <a:extLst>
              <a:ext uri="{FF2B5EF4-FFF2-40B4-BE49-F238E27FC236}">
                <a16:creationId xmlns:a16="http://schemas.microsoft.com/office/drawing/2014/main" id="{FC952DAC-C005-4107-82BA-B4D2255C8331}"/>
              </a:ext>
            </a:extLst>
          </p:cNvPr>
          <p:cNvSpPr>
            <a:spLocks noGrp="1"/>
          </p:cNvSpPr>
          <p:nvPr/>
        </p:nvSpPr>
        <p:spPr>
          <a:xfrm>
            <a:off x="647700" y="3000375"/>
            <a:ext cx="10668000" cy="619125"/>
          </a:xfrm>
          <a:prstGeom prst="rect">
            <a:avLst/>
          </a:prstGeom>
          <a:noFill/>
          <a:ln w="0">
            <a:noFill/>
          </a:ln>
        </p:spPr>
        <p:txBody>
          <a:bodyPr/>
          <a:lstStyle>
            <a:defPPr>
              <a:defRPr sz="2475" b="0">
                <a:solidFill>
                  <a:srgbClr val="A9E4C7"/>
                </a:solidFill>
                <a:latin typeface="Arial"/>
                <a:ea typeface="Arial"/>
                <a:cs typeface="Arial"/>
              </a:defRPr>
            </a:defPPr>
          </a:lstStyle>
          <a:p>
            <a:pPr>
              <a:defRPr sz="2475" b="0">
                <a:solidFill>
                  <a:srgbClr val="A9E4C7"/>
                </a:solidFill>
                <a:latin typeface="Arial"/>
                <a:ea typeface="Arial"/>
                <a:cs typeface="Arial"/>
              </a:defRPr>
            </a:pPr>
            <a:r>
              <a:rPr sz="2475" b="0">
                <a:solidFill>
                  <a:srgbClr val="A9E4C7"/>
                </a:solidFill>
                <a:latin typeface="Arial"/>
                <a:ea typeface="Arial"/>
                <a:cs typeface="Arial"/>
              </a:rPr>
              <a:t>A Multimodal Bangla Fact-Checking System</a:t>
            </a:r>
          </a:p>
        </p:txBody>
      </p:sp>
      <p:sp>
        <p:nvSpPr>
          <p:cNvPr id="6" name="Rectangle 5">
            <a:extLst>
              <a:ext uri="{FF2B5EF4-FFF2-40B4-BE49-F238E27FC236}">
                <a16:creationId xmlns:a16="http://schemas.microsoft.com/office/drawing/2014/main" id="{77D60325-C1F1-49F5-AAE3-6F8BF490E372}"/>
              </a:ext>
            </a:extLst>
          </p:cNvPr>
          <p:cNvSpPr>
            <a:spLocks noGrp="1"/>
          </p:cNvSpPr>
          <p:nvPr/>
        </p:nvSpPr>
        <p:spPr>
          <a:xfrm>
            <a:off x="647700" y="4695825"/>
            <a:ext cx="7048500" cy="400050"/>
          </a:xfrm>
          <a:prstGeom prst="rect">
            <a:avLst/>
          </a:prstGeom>
          <a:noFill/>
          <a:ln w="0">
            <a:noFill/>
          </a:ln>
        </p:spPr>
        <p:txBody>
          <a:bodyPr/>
          <a:lstStyle>
            <a:defPPr>
              <a:defRPr sz="1950" b="1">
                <a:solidFill>
                  <a:srgbClr val="FFFFFF"/>
                </a:solidFill>
                <a:latin typeface="Arial"/>
                <a:ea typeface="Arial"/>
                <a:cs typeface="Arial"/>
              </a:defRPr>
            </a:defPPr>
          </a:lstStyle>
          <a:p>
            <a:pPr>
              <a:defRPr sz="1950" b="1">
                <a:solidFill>
                  <a:srgbClr val="FFFFFF"/>
                </a:solidFill>
                <a:latin typeface="Arial"/>
                <a:ea typeface="Arial"/>
                <a:cs typeface="Arial"/>
              </a:defRPr>
            </a:pPr>
            <a:r>
              <a:rPr sz="1950" b="1" dirty="0">
                <a:solidFill>
                  <a:srgbClr val="FFFFFF"/>
                </a:solidFill>
                <a:latin typeface="Arial"/>
                <a:ea typeface="Arial"/>
                <a:cs typeface="Arial"/>
              </a:rPr>
              <a:t>Md. Abul Kalam Azad  /  BSSE-1425</a:t>
            </a:r>
          </a:p>
        </p:txBody>
      </p:sp>
      <p:sp>
        <p:nvSpPr>
          <p:cNvPr id="7" name="Rectangle 6">
            <a:extLst>
              <a:ext uri="{FF2B5EF4-FFF2-40B4-BE49-F238E27FC236}">
                <a16:creationId xmlns:a16="http://schemas.microsoft.com/office/drawing/2014/main" id="{57396C02-C5B2-4F3D-B067-2BA5BCF50F42}"/>
              </a:ext>
            </a:extLst>
          </p:cNvPr>
          <p:cNvSpPr>
            <a:spLocks noGrp="1"/>
          </p:cNvSpPr>
          <p:nvPr/>
        </p:nvSpPr>
        <p:spPr>
          <a:xfrm>
            <a:off x="647700" y="5191125"/>
            <a:ext cx="8001000" cy="666750"/>
          </a:xfrm>
          <a:prstGeom prst="rect">
            <a:avLst/>
          </a:prstGeom>
          <a:noFill/>
          <a:ln w="0">
            <a:noFill/>
          </a:ln>
        </p:spPr>
        <p:txBody>
          <a:bodyPr/>
          <a:lstStyle>
            <a:defPPr>
              <a:defRPr sz="1725" b="0">
                <a:solidFill>
                  <a:srgbClr val="A9E4C7"/>
                </a:solidFill>
                <a:latin typeface="Arial"/>
                <a:ea typeface="Arial"/>
                <a:cs typeface="Arial"/>
              </a:defRPr>
            </a:defPPr>
          </a:lstStyle>
          <a:p>
            <a:pPr>
              <a:defRPr sz="1725" b="0">
                <a:solidFill>
                  <a:srgbClr val="A9E4C7"/>
                </a:solidFill>
                <a:latin typeface="Arial"/>
                <a:ea typeface="Arial"/>
                <a:cs typeface="Arial"/>
              </a:defRPr>
            </a:pPr>
            <a:r>
              <a:rPr sz="1725" b="0" dirty="0">
                <a:solidFill>
                  <a:srgbClr val="A9E4C7"/>
                </a:solidFill>
                <a:latin typeface="Arial"/>
                <a:ea typeface="Arial"/>
                <a:cs typeface="Arial"/>
              </a:rPr>
              <a:t>Software Project Lab III</a:t>
            </a:r>
          </a:p>
          <a:p>
            <a:pPr>
              <a:defRPr sz="1725" b="0">
                <a:solidFill>
                  <a:srgbClr val="A9E4C7"/>
                </a:solidFill>
                <a:latin typeface="Arial"/>
                <a:ea typeface="Arial"/>
                <a:cs typeface="Arial"/>
              </a:defRPr>
            </a:pPr>
            <a:r>
              <a:rPr sz="1725" b="0" dirty="0">
                <a:solidFill>
                  <a:srgbClr val="A9E4C7"/>
                </a:solidFill>
                <a:latin typeface="Arial"/>
                <a:ea typeface="Arial"/>
                <a:cs typeface="Arial"/>
              </a:rPr>
              <a:t>Institute of Information Technology, University of Dhaka</a:t>
            </a:r>
          </a:p>
        </p:txBody>
      </p:sp>
      <p:sp>
        <p:nvSpPr>
          <p:cNvPr id="8" name="Rectangle 7">
            <a:extLst>
              <a:ext uri="{FF2B5EF4-FFF2-40B4-BE49-F238E27FC236}">
                <a16:creationId xmlns:a16="http://schemas.microsoft.com/office/drawing/2014/main" id="{77264738-747A-496C-91B7-48B5B6B2AF24}"/>
              </a:ext>
            </a:extLst>
          </p:cNvPr>
          <p:cNvSpPr>
            <a:spLocks noGrp="1"/>
          </p:cNvSpPr>
          <p:nvPr/>
        </p:nvSpPr>
        <p:spPr>
          <a:xfrm>
            <a:off x="8382000" y="4695825"/>
            <a:ext cx="3190875" cy="952500"/>
          </a:xfrm>
          <a:prstGeom prst="rect">
            <a:avLst/>
          </a:prstGeom>
          <a:noFill/>
          <a:ln w="0">
            <a:noFill/>
          </a:ln>
        </p:spPr>
        <p:txBody>
          <a:bodyPr/>
          <a:lstStyle>
            <a:defPPr>
              <a:defRPr sz="1725" b="0">
                <a:solidFill>
                  <a:srgbClr val="FFFFFF"/>
                </a:solidFill>
                <a:latin typeface="Arial"/>
                <a:ea typeface="Arial"/>
                <a:cs typeface="Arial"/>
              </a:defRPr>
            </a:defPPr>
          </a:lstStyle>
          <a:p>
            <a:pPr>
              <a:defRPr sz="1725" b="0">
                <a:solidFill>
                  <a:srgbClr val="FFFFFF"/>
                </a:solidFill>
                <a:latin typeface="Arial"/>
                <a:ea typeface="Arial"/>
                <a:cs typeface="Arial"/>
              </a:defRPr>
            </a:pPr>
            <a:r>
              <a:rPr sz="1725" b="0" dirty="0">
                <a:solidFill>
                  <a:srgbClr val="FFFFFF"/>
                </a:solidFill>
                <a:latin typeface="Arial"/>
                <a:ea typeface="Arial"/>
                <a:cs typeface="Arial"/>
              </a:rPr>
              <a:t>Supervisor</a:t>
            </a:r>
          </a:p>
          <a:p>
            <a:pPr>
              <a:defRPr sz="1725" b="0">
                <a:solidFill>
                  <a:srgbClr val="FFFFFF"/>
                </a:solidFill>
                <a:latin typeface="Arial"/>
                <a:ea typeface="Arial"/>
                <a:cs typeface="Arial"/>
              </a:defRPr>
            </a:pPr>
            <a:r>
              <a:rPr sz="1725" b="0" dirty="0" err="1">
                <a:solidFill>
                  <a:srgbClr val="FFFFFF"/>
                </a:solidFill>
                <a:latin typeface="Arial"/>
                <a:ea typeface="Arial"/>
                <a:cs typeface="Arial"/>
              </a:rPr>
              <a:t>Toukir</a:t>
            </a:r>
            <a:r>
              <a:rPr sz="1725" b="0" dirty="0">
                <a:solidFill>
                  <a:srgbClr val="FFFFFF"/>
                </a:solidFill>
                <a:latin typeface="Arial"/>
                <a:ea typeface="Arial"/>
                <a:cs typeface="Arial"/>
              </a:rPr>
              <a:t> Ahammed</a:t>
            </a:r>
            <a:endParaRPr lang="en-US" sz="1725" dirty="0">
              <a:solidFill>
                <a:srgbClr val="FFFFFF"/>
              </a:solidFill>
              <a:latin typeface="Arial"/>
              <a:ea typeface="Arial"/>
              <a:cs typeface="Arial"/>
            </a:endParaRPr>
          </a:p>
          <a:p>
            <a:pPr>
              <a:defRPr sz="1725" b="0">
                <a:solidFill>
                  <a:srgbClr val="FFFFFF"/>
                </a:solidFill>
                <a:latin typeface="Arial"/>
                <a:ea typeface="Arial"/>
                <a:cs typeface="Arial"/>
              </a:defRPr>
            </a:pPr>
            <a:r>
              <a:rPr sz="1725" b="0" dirty="0">
                <a:solidFill>
                  <a:srgbClr val="FFFFFF"/>
                </a:solidFill>
                <a:latin typeface="Arial"/>
                <a:ea typeface="Arial"/>
                <a:cs typeface="Arial"/>
              </a:rPr>
              <a:t>Lecturer</a:t>
            </a:r>
            <a:r>
              <a:rPr lang="en-US" sz="1725" dirty="0">
                <a:solidFill>
                  <a:srgbClr val="FFFFFF"/>
                </a:solidFill>
                <a:latin typeface="Arial"/>
                <a:ea typeface="Arial"/>
                <a:cs typeface="Arial"/>
              </a:rPr>
              <a:t>, IIT, DU</a:t>
            </a:r>
            <a:endParaRPr lang="en-US" sz="1725" b="0" dirty="0">
              <a:solidFill>
                <a:srgbClr val="FFFFFF"/>
              </a:solidFill>
              <a:latin typeface="Arial"/>
              <a:ea typeface="Arial"/>
              <a:cs typeface="Arial"/>
            </a:endParaRPr>
          </a:p>
        </p:txBody>
      </p:sp>
    </p:spTree>
    <p:extLst>
      <p:ext uri="{BB962C8B-B14F-4D97-AF65-F5344CB8AC3E}">
        <p14:creationId xmlns:p14="http://schemas.microsoft.com/office/powerpoint/2010/main" val="1507205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a:extLst>
            <a:ext uri="{FF2B5EF4-FFF2-40B4-BE49-F238E27FC236}">
              <a16:creationId xmlns:a16="http://schemas.microsoft.com/office/drawing/2014/main" id="{8C7B483D-C0CE-4703-7B05-1423EF359FDB}"/>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E2673530-D49B-3258-7575-7F86764B1325}"/>
              </a:ext>
            </a:extLst>
          </p:cNvPr>
          <p:cNvSpPr>
            <a:spLocks noGrp="1"/>
          </p:cNvSpPr>
          <p:nvPr/>
        </p:nvSpPr>
        <p:spPr>
          <a:xfrm>
            <a:off x="609600" y="428625"/>
            <a:ext cx="10972800" cy="742950"/>
          </a:xfrm>
          <a:prstGeom prst="rect">
            <a:avLst/>
          </a:prstGeom>
          <a:noFill/>
          <a:ln w="0">
            <a:noFill/>
          </a:ln>
        </p:spPr>
        <p:txBody>
          <a:bodyPr/>
          <a:lstStyle>
            <a:defPPr>
              <a:defRPr sz="3300" b="1">
                <a:solidFill>
                  <a:srgbClr val="183C33"/>
                </a:solidFill>
                <a:latin typeface="Arial"/>
                <a:ea typeface="Arial"/>
                <a:cs typeface="Arial"/>
              </a:defRPr>
            </a:defPPr>
          </a:lstStyle>
          <a:p>
            <a:pPr>
              <a:defRPr sz="3300" b="1">
                <a:solidFill>
                  <a:srgbClr val="183C33"/>
                </a:solidFill>
                <a:latin typeface="Arial"/>
                <a:ea typeface="Arial"/>
                <a:cs typeface="Arial"/>
              </a:defRPr>
            </a:pPr>
            <a:r>
              <a:rPr lang="en-US" sz="3300" b="1" dirty="0">
                <a:solidFill>
                  <a:srgbClr val="183C33"/>
                </a:solidFill>
                <a:latin typeface="Arial"/>
                <a:ea typeface="Arial"/>
                <a:cs typeface="Arial"/>
              </a:rPr>
              <a:t>How this presentation is </a:t>
            </a:r>
            <a:r>
              <a:rPr lang="en-US" sz="3300" b="1" dirty="0" err="1">
                <a:solidFill>
                  <a:srgbClr val="183C33"/>
                </a:solidFill>
                <a:latin typeface="Arial"/>
                <a:ea typeface="Arial"/>
                <a:cs typeface="Arial"/>
              </a:rPr>
              <a:t>organised</a:t>
            </a:r>
            <a:endParaRPr sz="3300" b="1" dirty="0">
              <a:solidFill>
                <a:srgbClr val="183C33"/>
              </a:solidFill>
              <a:latin typeface="Arial"/>
              <a:ea typeface="Arial"/>
              <a:cs typeface="Arial"/>
            </a:endParaRPr>
          </a:p>
        </p:txBody>
      </p:sp>
      <p:sp>
        <p:nvSpPr>
          <p:cNvPr id="2" name="Rectangle 1">
            <a:extLst>
              <a:ext uri="{FF2B5EF4-FFF2-40B4-BE49-F238E27FC236}">
                <a16:creationId xmlns:a16="http://schemas.microsoft.com/office/drawing/2014/main" id="{5CC7F0A6-A369-4AC4-6C6C-FEBD0C73F6DE}"/>
              </a:ext>
            </a:extLst>
          </p:cNvPr>
          <p:cNvSpPr>
            <a:spLocks noGrp="1"/>
          </p:cNvSpPr>
          <p:nvPr/>
        </p:nvSpPr>
        <p:spPr>
          <a:xfrm>
            <a:off x="11049000" y="6305550"/>
            <a:ext cx="523875" cy="228600"/>
          </a:xfrm>
          <a:prstGeom prst="rect">
            <a:avLst/>
          </a:prstGeom>
          <a:noFill/>
          <a:ln w="0">
            <a:noFill/>
          </a:ln>
        </p:spPr>
        <p:txBody>
          <a:bodyPr/>
          <a:lstStyle>
            <a:defPPr>
              <a:defRPr sz="1275" b="0">
                <a:solidFill>
                  <a:srgbClr val="6B8078"/>
                </a:solidFill>
                <a:latin typeface="Arial"/>
                <a:ea typeface="Arial"/>
                <a:cs typeface="Arial"/>
              </a:defRPr>
            </a:defPPr>
          </a:lstStyle>
          <a:p>
            <a:pPr>
              <a:defRPr sz="1275" b="0">
                <a:solidFill>
                  <a:srgbClr val="6B8078"/>
                </a:solidFill>
                <a:latin typeface="Arial"/>
                <a:ea typeface="Arial"/>
                <a:cs typeface="Arial"/>
              </a:defRPr>
            </a:pPr>
            <a:r>
              <a:rPr sz="1275" b="0">
                <a:solidFill>
                  <a:srgbClr val="6B8078"/>
                </a:solidFill>
                <a:latin typeface="Arial"/>
                <a:ea typeface="Arial"/>
                <a:cs typeface="Arial"/>
              </a:rPr>
              <a:t>02</a:t>
            </a:r>
          </a:p>
        </p:txBody>
      </p:sp>
      <p:sp>
        <p:nvSpPr>
          <p:cNvPr id="4" name="Rectangle 3">
            <a:extLst>
              <a:ext uri="{FF2B5EF4-FFF2-40B4-BE49-F238E27FC236}">
                <a16:creationId xmlns:a16="http://schemas.microsoft.com/office/drawing/2014/main" id="{045FB3E4-BF3D-3E64-D63E-CCD111259C23}"/>
              </a:ext>
            </a:extLst>
          </p:cNvPr>
          <p:cNvSpPr>
            <a:spLocks noGrp="1"/>
          </p:cNvSpPr>
          <p:nvPr/>
        </p:nvSpPr>
        <p:spPr>
          <a:xfrm>
            <a:off x="609600" y="3133725"/>
            <a:ext cx="685800" cy="533400"/>
          </a:xfrm>
          <a:prstGeom prst="rect">
            <a:avLst/>
          </a:prstGeom>
          <a:noFill/>
          <a:ln w="0">
            <a:noFill/>
          </a:ln>
        </p:spPr>
        <p:txBody>
          <a:bodyPr/>
          <a:lstStyle>
            <a:defPPr>
              <a:defRPr sz="2550" b="1">
                <a:solidFill>
                  <a:srgbClr val="13694E"/>
                </a:solidFill>
                <a:latin typeface="Arial"/>
                <a:ea typeface="Arial"/>
                <a:cs typeface="Arial"/>
              </a:defRPr>
            </a:defPPr>
          </a:lstStyle>
          <a:p>
            <a:pPr>
              <a:defRPr sz="2550" b="1">
                <a:solidFill>
                  <a:srgbClr val="13694E"/>
                </a:solidFill>
                <a:latin typeface="Arial"/>
                <a:ea typeface="Arial"/>
                <a:cs typeface="Arial"/>
              </a:defRPr>
            </a:pPr>
            <a:r>
              <a:rPr sz="2550" b="1">
                <a:solidFill>
                  <a:srgbClr val="13694E"/>
                </a:solidFill>
                <a:latin typeface="Arial"/>
                <a:ea typeface="Arial"/>
                <a:cs typeface="Arial"/>
              </a:rPr>
              <a:t>01</a:t>
            </a:r>
          </a:p>
        </p:txBody>
      </p:sp>
      <p:sp>
        <p:nvSpPr>
          <p:cNvPr id="5" name="Rectangle 4">
            <a:extLst>
              <a:ext uri="{FF2B5EF4-FFF2-40B4-BE49-F238E27FC236}">
                <a16:creationId xmlns:a16="http://schemas.microsoft.com/office/drawing/2014/main" id="{2C58B39D-6844-D71D-2537-74AE1B9D408D}"/>
              </a:ext>
            </a:extLst>
          </p:cNvPr>
          <p:cNvSpPr>
            <a:spLocks noGrp="1"/>
          </p:cNvSpPr>
          <p:nvPr/>
        </p:nvSpPr>
        <p:spPr>
          <a:xfrm>
            <a:off x="1428750" y="3133725"/>
            <a:ext cx="3810000" cy="476250"/>
          </a:xfrm>
          <a:prstGeom prst="rect">
            <a:avLst/>
          </a:prstGeom>
          <a:noFill/>
          <a:ln w="0">
            <a:noFill/>
          </a:ln>
        </p:spPr>
        <p:txBody>
          <a:bodyPr/>
          <a:lstStyle>
            <a:defPPr>
              <a:defRPr sz="2175" b="1">
                <a:solidFill>
                  <a:srgbClr val="183C33"/>
                </a:solidFill>
                <a:latin typeface="Arial"/>
                <a:ea typeface="Arial"/>
                <a:cs typeface="Arial"/>
              </a:defRPr>
            </a:defPPr>
          </a:lstStyle>
          <a:p>
            <a:pPr>
              <a:defRPr sz="2175" b="1">
                <a:solidFill>
                  <a:srgbClr val="183C33"/>
                </a:solidFill>
                <a:latin typeface="Arial"/>
                <a:ea typeface="Arial"/>
                <a:cs typeface="Arial"/>
              </a:defRPr>
            </a:pPr>
            <a:r>
              <a:rPr lang="en-US" sz="2175" b="1" dirty="0">
                <a:solidFill>
                  <a:srgbClr val="183C33"/>
                </a:solidFill>
                <a:latin typeface="Arial"/>
                <a:ea typeface="Arial"/>
                <a:cs typeface="Arial"/>
              </a:rPr>
              <a:t>Problem statement</a:t>
            </a:r>
            <a:endParaRPr sz="2175" b="1" dirty="0">
              <a:solidFill>
                <a:srgbClr val="183C33"/>
              </a:solidFill>
              <a:latin typeface="Arial"/>
              <a:ea typeface="Arial"/>
              <a:cs typeface="Arial"/>
            </a:endParaRPr>
          </a:p>
        </p:txBody>
      </p:sp>
      <p:sp>
        <p:nvSpPr>
          <p:cNvPr id="7" name="Rectangle 6">
            <a:extLst>
              <a:ext uri="{FF2B5EF4-FFF2-40B4-BE49-F238E27FC236}">
                <a16:creationId xmlns:a16="http://schemas.microsoft.com/office/drawing/2014/main" id="{A43D6CC9-E327-616B-897B-0BDB938C7A33}"/>
              </a:ext>
            </a:extLst>
          </p:cNvPr>
          <p:cNvSpPr>
            <a:spLocks noGrp="1"/>
          </p:cNvSpPr>
          <p:nvPr/>
        </p:nvSpPr>
        <p:spPr>
          <a:xfrm>
            <a:off x="609600" y="4171950"/>
            <a:ext cx="685800" cy="533400"/>
          </a:xfrm>
          <a:prstGeom prst="rect">
            <a:avLst/>
          </a:prstGeom>
          <a:noFill/>
          <a:ln w="0">
            <a:noFill/>
          </a:ln>
        </p:spPr>
        <p:txBody>
          <a:bodyPr/>
          <a:lstStyle>
            <a:defPPr>
              <a:defRPr sz="2550" b="1">
                <a:solidFill>
                  <a:srgbClr val="13694E"/>
                </a:solidFill>
                <a:latin typeface="Arial"/>
                <a:ea typeface="Arial"/>
                <a:cs typeface="Arial"/>
              </a:defRPr>
            </a:defPPr>
          </a:lstStyle>
          <a:p>
            <a:pPr>
              <a:defRPr sz="2550" b="1">
                <a:solidFill>
                  <a:srgbClr val="13694E"/>
                </a:solidFill>
                <a:latin typeface="Arial"/>
                <a:ea typeface="Arial"/>
                <a:cs typeface="Arial"/>
              </a:defRPr>
            </a:pPr>
            <a:r>
              <a:rPr sz="2550" b="1">
                <a:solidFill>
                  <a:srgbClr val="13694E"/>
                </a:solidFill>
                <a:latin typeface="Arial"/>
                <a:ea typeface="Arial"/>
                <a:cs typeface="Arial"/>
              </a:rPr>
              <a:t>02</a:t>
            </a:r>
          </a:p>
        </p:txBody>
      </p:sp>
      <p:sp>
        <p:nvSpPr>
          <p:cNvPr id="8" name="Rectangle 7">
            <a:extLst>
              <a:ext uri="{FF2B5EF4-FFF2-40B4-BE49-F238E27FC236}">
                <a16:creationId xmlns:a16="http://schemas.microsoft.com/office/drawing/2014/main" id="{9795F86A-B3C4-AD84-5CC6-D6733A351555}"/>
              </a:ext>
            </a:extLst>
          </p:cNvPr>
          <p:cNvSpPr>
            <a:spLocks noGrp="1"/>
          </p:cNvSpPr>
          <p:nvPr/>
        </p:nvSpPr>
        <p:spPr>
          <a:xfrm>
            <a:off x="1428750" y="4171950"/>
            <a:ext cx="3810000" cy="476250"/>
          </a:xfrm>
          <a:prstGeom prst="rect">
            <a:avLst/>
          </a:prstGeom>
          <a:noFill/>
          <a:ln w="0">
            <a:noFill/>
          </a:ln>
        </p:spPr>
        <p:txBody>
          <a:bodyPr/>
          <a:lstStyle>
            <a:defPPr>
              <a:defRPr sz="2175" b="1">
                <a:solidFill>
                  <a:srgbClr val="183C33"/>
                </a:solidFill>
                <a:latin typeface="Arial"/>
                <a:ea typeface="Arial"/>
                <a:cs typeface="Arial"/>
              </a:defRPr>
            </a:defPPr>
          </a:lstStyle>
          <a:p>
            <a:pPr>
              <a:defRPr sz="2175" b="1">
                <a:solidFill>
                  <a:srgbClr val="183C33"/>
                </a:solidFill>
                <a:latin typeface="Arial"/>
                <a:ea typeface="Arial"/>
                <a:cs typeface="Arial"/>
              </a:defRPr>
            </a:pPr>
            <a:r>
              <a:rPr lang="en-US" sz="2175" b="1" dirty="0">
                <a:solidFill>
                  <a:srgbClr val="183C33"/>
                </a:solidFill>
                <a:latin typeface="Arial"/>
                <a:ea typeface="Arial"/>
                <a:cs typeface="Arial"/>
              </a:rPr>
              <a:t>Proposed solution</a:t>
            </a:r>
            <a:endParaRPr sz="2175" b="1" dirty="0">
              <a:solidFill>
                <a:srgbClr val="183C33"/>
              </a:solidFill>
              <a:latin typeface="Arial"/>
              <a:ea typeface="Arial"/>
              <a:cs typeface="Arial"/>
            </a:endParaRPr>
          </a:p>
        </p:txBody>
      </p:sp>
      <p:sp>
        <p:nvSpPr>
          <p:cNvPr id="10" name="Rectangle 9">
            <a:extLst>
              <a:ext uri="{FF2B5EF4-FFF2-40B4-BE49-F238E27FC236}">
                <a16:creationId xmlns:a16="http://schemas.microsoft.com/office/drawing/2014/main" id="{D1D17A82-EAFF-53AC-C9E9-0CF2ADC998CC}"/>
              </a:ext>
            </a:extLst>
          </p:cNvPr>
          <p:cNvSpPr>
            <a:spLocks noGrp="1"/>
          </p:cNvSpPr>
          <p:nvPr/>
        </p:nvSpPr>
        <p:spPr>
          <a:xfrm>
            <a:off x="609600" y="5210175"/>
            <a:ext cx="685800" cy="533400"/>
          </a:xfrm>
          <a:prstGeom prst="rect">
            <a:avLst/>
          </a:prstGeom>
          <a:noFill/>
          <a:ln w="0">
            <a:noFill/>
          </a:ln>
        </p:spPr>
        <p:txBody>
          <a:bodyPr/>
          <a:lstStyle>
            <a:defPPr>
              <a:defRPr sz="2550" b="1">
                <a:solidFill>
                  <a:srgbClr val="13694E"/>
                </a:solidFill>
                <a:latin typeface="Arial"/>
                <a:ea typeface="Arial"/>
                <a:cs typeface="Arial"/>
              </a:defRPr>
            </a:defPPr>
          </a:lstStyle>
          <a:p>
            <a:pPr>
              <a:defRPr sz="2550" b="1">
                <a:solidFill>
                  <a:srgbClr val="13694E"/>
                </a:solidFill>
                <a:latin typeface="Arial"/>
                <a:ea typeface="Arial"/>
                <a:cs typeface="Arial"/>
              </a:defRPr>
            </a:pPr>
            <a:r>
              <a:rPr sz="2550" b="1">
                <a:solidFill>
                  <a:srgbClr val="13694E"/>
                </a:solidFill>
                <a:latin typeface="Arial"/>
                <a:ea typeface="Arial"/>
                <a:cs typeface="Arial"/>
              </a:rPr>
              <a:t>03</a:t>
            </a:r>
          </a:p>
        </p:txBody>
      </p:sp>
      <p:sp>
        <p:nvSpPr>
          <p:cNvPr id="11" name="Rectangle 10">
            <a:extLst>
              <a:ext uri="{FF2B5EF4-FFF2-40B4-BE49-F238E27FC236}">
                <a16:creationId xmlns:a16="http://schemas.microsoft.com/office/drawing/2014/main" id="{FD5096A1-BF69-B675-C7CF-A1F929665088}"/>
              </a:ext>
            </a:extLst>
          </p:cNvPr>
          <p:cNvSpPr>
            <a:spLocks noGrp="1"/>
          </p:cNvSpPr>
          <p:nvPr/>
        </p:nvSpPr>
        <p:spPr>
          <a:xfrm>
            <a:off x="1428749" y="5210175"/>
            <a:ext cx="4440827" cy="476250"/>
          </a:xfrm>
          <a:prstGeom prst="rect">
            <a:avLst/>
          </a:prstGeom>
          <a:noFill/>
          <a:ln w="0">
            <a:noFill/>
          </a:ln>
        </p:spPr>
        <p:txBody>
          <a:bodyPr/>
          <a:lstStyle>
            <a:defPPr>
              <a:defRPr sz="2175" b="1">
                <a:solidFill>
                  <a:srgbClr val="183C33"/>
                </a:solidFill>
                <a:latin typeface="Arial"/>
                <a:ea typeface="Arial"/>
                <a:cs typeface="Arial"/>
              </a:defRPr>
            </a:defPPr>
          </a:lstStyle>
          <a:p>
            <a:pPr>
              <a:defRPr sz="2175" b="1">
                <a:solidFill>
                  <a:srgbClr val="183C33"/>
                </a:solidFill>
                <a:latin typeface="Arial"/>
                <a:ea typeface="Arial"/>
                <a:cs typeface="Arial"/>
              </a:defRPr>
            </a:pPr>
            <a:r>
              <a:rPr lang="en-US" sz="2175" b="1" dirty="0">
                <a:solidFill>
                  <a:srgbClr val="183C33"/>
                </a:solidFill>
                <a:latin typeface="Arial"/>
                <a:ea typeface="Arial"/>
                <a:cs typeface="Arial"/>
              </a:rPr>
              <a:t>Core features &amp; functionality</a:t>
            </a:r>
            <a:endParaRPr sz="2175" b="1" dirty="0">
              <a:solidFill>
                <a:srgbClr val="183C33"/>
              </a:solidFill>
              <a:latin typeface="Arial"/>
              <a:ea typeface="Arial"/>
              <a:cs typeface="Arial"/>
            </a:endParaRPr>
          </a:p>
        </p:txBody>
      </p:sp>
    </p:spTree>
    <p:extLst>
      <p:ext uri="{BB962C8B-B14F-4D97-AF65-F5344CB8AC3E}">
        <p14:creationId xmlns:p14="http://schemas.microsoft.com/office/powerpoint/2010/main" val="2942572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E270ED2-5F35-4D9F-BFE5-417D8A3BCB97}"/>
              </a:ext>
            </a:extLst>
          </p:cNvPr>
          <p:cNvSpPr>
            <a:spLocks noGrp="1"/>
          </p:cNvSpPr>
          <p:nvPr/>
        </p:nvSpPr>
        <p:spPr>
          <a:xfrm>
            <a:off x="609600" y="428625"/>
            <a:ext cx="10972800" cy="742950"/>
          </a:xfrm>
          <a:prstGeom prst="rect">
            <a:avLst/>
          </a:prstGeom>
          <a:noFill/>
          <a:ln w="0">
            <a:noFill/>
          </a:ln>
        </p:spPr>
        <p:txBody>
          <a:bodyPr/>
          <a:lstStyle>
            <a:defPPr>
              <a:defRPr sz="3300" b="1">
                <a:solidFill>
                  <a:srgbClr val="183C33"/>
                </a:solidFill>
                <a:latin typeface="Arial"/>
                <a:ea typeface="Arial"/>
                <a:cs typeface="Arial"/>
              </a:defRPr>
            </a:defPPr>
          </a:lstStyle>
          <a:p>
            <a:pPr>
              <a:defRPr sz="3300" b="1">
                <a:solidFill>
                  <a:srgbClr val="183C33"/>
                </a:solidFill>
                <a:latin typeface="Arial"/>
                <a:ea typeface="Arial"/>
                <a:cs typeface="Arial"/>
              </a:defRPr>
            </a:pPr>
            <a:r>
              <a:rPr sz="3300" b="1">
                <a:solidFill>
                  <a:srgbClr val="183C33"/>
                </a:solidFill>
                <a:latin typeface="Arial"/>
                <a:ea typeface="Arial"/>
                <a:cs typeface="Arial"/>
              </a:rPr>
              <a:t>Problem statement</a:t>
            </a:r>
          </a:p>
        </p:txBody>
      </p:sp>
      <p:sp>
        <p:nvSpPr>
          <p:cNvPr id="2" name="Rectangle 1">
            <a:extLst>
              <a:ext uri="{FF2B5EF4-FFF2-40B4-BE49-F238E27FC236}">
                <a16:creationId xmlns:a16="http://schemas.microsoft.com/office/drawing/2014/main" id="{CAC53F9E-35DB-4B07-821E-B6E9B501F46B}"/>
              </a:ext>
            </a:extLst>
          </p:cNvPr>
          <p:cNvSpPr>
            <a:spLocks noGrp="1"/>
          </p:cNvSpPr>
          <p:nvPr/>
        </p:nvSpPr>
        <p:spPr>
          <a:xfrm>
            <a:off x="11049000" y="6305550"/>
            <a:ext cx="523875" cy="228600"/>
          </a:xfrm>
          <a:prstGeom prst="rect">
            <a:avLst/>
          </a:prstGeom>
          <a:noFill/>
          <a:ln w="0">
            <a:noFill/>
          </a:ln>
        </p:spPr>
        <p:txBody>
          <a:bodyPr/>
          <a:lstStyle>
            <a:defPPr>
              <a:defRPr sz="1275" b="0">
                <a:solidFill>
                  <a:srgbClr val="6B8078"/>
                </a:solidFill>
                <a:latin typeface="Arial"/>
                <a:ea typeface="Arial"/>
                <a:cs typeface="Arial"/>
              </a:defRPr>
            </a:defPPr>
          </a:lstStyle>
          <a:p>
            <a:pPr>
              <a:defRPr sz="1275" b="0">
                <a:solidFill>
                  <a:srgbClr val="6B8078"/>
                </a:solidFill>
                <a:latin typeface="Arial"/>
                <a:ea typeface="Arial"/>
                <a:cs typeface="Arial"/>
              </a:defRPr>
            </a:pPr>
            <a:r>
              <a:rPr sz="1275" b="0">
                <a:solidFill>
                  <a:srgbClr val="6B8078"/>
                </a:solidFill>
                <a:latin typeface="Arial"/>
                <a:ea typeface="Arial"/>
                <a:cs typeface="Arial"/>
              </a:rPr>
              <a:t>02</a:t>
            </a:r>
          </a:p>
        </p:txBody>
      </p:sp>
      <p:sp>
        <p:nvSpPr>
          <p:cNvPr id="3" name="Rectangle 2">
            <a:extLst>
              <a:ext uri="{FF2B5EF4-FFF2-40B4-BE49-F238E27FC236}">
                <a16:creationId xmlns:a16="http://schemas.microsoft.com/office/drawing/2014/main" id="{D967C29D-55DE-4904-A3D4-0DC27BDA0FE1}"/>
              </a:ext>
            </a:extLst>
          </p:cNvPr>
          <p:cNvSpPr>
            <a:spLocks noGrp="1"/>
          </p:cNvSpPr>
          <p:nvPr/>
        </p:nvSpPr>
        <p:spPr>
          <a:xfrm>
            <a:off x="609600" y="1466850"/>
            <a:ext cx="10572750" cy="1162050"/>
          </a:xfrm>
          <a:prstGeom prst="rect">
            <a:avLst/>
          </a:prstGeom>
          <a:noFill/>
          <a:ln w="0">
            <a:noFill/>
          </a:ln>
        </p:spPr>
        <p:txBody>
          <a:bodyPr/>
          <a:lstStyle>
            <a:defPPr>
              <a:defRPr sz="3225" b="1">
                <a:solidFill>
                  <a:srgbClr val="183C33"/>
                </a:solidFill>
                <a:latin typeface="Arial"/>
                <a:ea typeface="Arial"/>
                <a:cs typeface="Arial"/>
              </a:defRPr>
            </a:defPPr>
          </a:lstStyle>
          <a:p>
            <a:pPr>
              <a:defRPr sz="3225" b="1">
                <a:solidFill>
                  <a:srgbClr val="183C33"/>
                </a:solidFill>
                <a:latin typeface="Arial"/>
                <a:ea typeface="Arial"/>
                <a:cs typeface="Arial"/>
              </a:defRPr>
            </a:pPr>
            <a:r>
              <a:rPr sz="3225" b="1">
                <a:solidFill>
                  <a:srgbClr val="183C33"/>
                </a:solidFill>
                <a:latin typeface="Arial"/>
                <a:ea typeface="Arial"/>
                <a:cs typeface="Arial"/>
              </a:rPr>
              <a:t>Bangla news can look credible</a:t>
            </a:r>
          </a:p>
          <a:p>
            <a:pPr>
              <a:defRPr sz="3225" b="1">
                <a:solidFill>
                  <a:srgbClr val="183C33"/>
                </a:solidFill>
                <a:latin typeface="Arial"/>
                <a:ea typeface="Arial"/>
                <a:cs typeface="Arial"/>
              </a:defRPr>
            </a:pPr>
            <a:r>
              <a:rPr sz="3225" b="1">
                <a:solidFill>
                  <a:srgbClr val="183C33"/>
                </a:solidFill>
                <a:latin typeface="Arial"/>
                <a:ea typeface="Arial"/>
                <a:cs typeface="Arial"/>
              </a:rPr>
              <a:t>before anyone checks the evidence.</a:t>
            </a:r>
          </a:p>
        </p:txBody>
      </p:sp>
      <p:sp>
        <p:nvSpPr>
          <p:cNvPr id="4" name="Rectangle 3">
            <a:extLst>
              <a:ext uri="{FF2B5EF4-FFF2-40B4-BE49-F238E27FC236}">
                <a16:creationId xmlns:a16="http://schemas.microsoft.com/office/drawing/2014/main" id="{79827EDB-3BF7-4966-B5F1-3858109BB07A}"/>
              </a:ext>
            </a:extLst>
          </p:cNvPr>
          <p:cNvSpPr>
            <a:spLocks noGrp="1"/>
          </p:cNvSpPr>
          <p:nvPr/>
        </p:nvSpPr>
        <p:spPr>
          <a:xfrm>
            <a:off x="609600" y="3133725"/>
            <a:ext cx="685800" cy="533400"/>
          </a:xfrm>
          <a:prstGeom prst="rect">
            <a:avLst/>
          </a:prstGeom>
          <a:noFill/>
          <a:ln w="0">
            <a:noFill/>
          </a:ln>
        </p:spPr>
        <p:txBody>
          <a:bodyPr/>
          <a:lstStyle>
            <a:defPPr>
              <a:defRPr sz="2550" b="1">
                <a:solidFill>
                  <a:srgbClr val="13694E"/>
                </a:solidFill>
                <a:latin typeface="Arial"/>
                <a:ea typeface="Arial"/>
                <a:cs typeface="Arial"/>
              </a:defRPr>
            </a:defPPr>
          </a:lstStyle>
          <a:p>
            <a:pPr>
              <a:defRPr sz="2550" b="1">
                <a:solidFill>
                  <a:srgbClr val="13694E"/>
                </a:solidFill>
                <a:latin typeface="Arial"/>
                <a:ea typeface="Arial"/>
                <a:cs typeface="Arial"/>
              </a:defRPr>
            </a:pPr>
            <a:r>
              <a:rPr sz="2550" b="1">
                <a:solidFill>
                  <a:srgbClr val="13694E"/>
                </a:solidFill>
                <a:latin typeface="Arial"/>
                <a:ea typeface="Arial"/>
                <a:cs typeface="Arial"/>
              </a:rPr>
              <a:t>01</a:t>
            </a:r>
          </a:p>
        </p:txBody>
      </p:sp>
      <p:sp>
        <p:nvSpPr>
          <p:cNvPr id="5" name="Rectangle 4">
            <a:extLst>
              <a:ext uri="{FF2B5EF4-FFF2-40B4-BE49-F238E27FC236}">
                <a16:creationId xmlns:a16="http://schemas.microsoft.com/office/drawing/2014/main" id="{870E2D33-981C-4B34-BBB3-0EBF6F5C16CF}"/>
              </a:ext>
            </a:extLst>
          </p:cNvPr>
          <p:cNvSpPr>
            <a:spLocks noGrp="1"/>
          </p:cNvSpPr>
          <p:nvPr/>
        </p:nvSpPr>
        <p:spPr>
          <a:xfrm>
            <a:off x="1428750" y="3133725"/>
            <a:ext cx="3810000" cy="476250"/>
          </a:xfrm>
          <a:prstGeom prst="rect">
            <a:avLst/>
          </a:prstGeom>
          <a:noFill/>
          <a:ln w="0">
            <a:noFill/>
          </a:ln>
        </p:spPr>
        <p:txBody>
          <a:bodyPr/>
          <a:lstStyle>
            <a:defPPr>
              <a:defRPr sz="2175" b="1">
                <a:solidFill>
                  <a:srgbClr val="183C33"/>
                </a:solidFill>
                <a:latin typeface="Arial"/>
                <a:ea typeface="Arial"/>
                <a:cs typeface="Arial"/>
              </a:defRPr>
            </a:defPPr>
          </a:lstStyle>
          <a:p>
            <a:pPr>
              <a:defRPr sz="2175" b="1">
                <a:solidFill>
                  <a:srgbClr val="183C33"/>
                </a:solidFill>
                <a:latin typeface="Arial"/>
                <a:ea typeface="Arial"/>
                <a:cs typeface="Arial"/>
              </a:defRPr>
            </a:pPr>
            <a:r>
              <a:rPr sz="2175" b="1">
                <a:solidFill>
                  <a:srgbClr val="183C33"/>
                </a:solidFill>
                <a:latin typeface="Arial"/>
                <a:ea typeface="Arial"/>
                <a:cs typeface="Arial"/>
              </a:rPr>
              <a:t>Misleading presentation</a:t>
            </a:r>
          </a:p>
        </p:txBody>
      </p:sp>
      <p:sp>
        <p:nvSpPr>
          <p:cNvPr id="6" name="Rectangle 5">
            <a:extLst>
              <a:ext uri="{FF2B5EF4-FFF2-40B4-BE49-F238E27FC236}">
                <a16:creationId xmlns:a16="http://schemas.microsoft.com/office/drawing/2014/main" id="{5CB2E4F5-F5E2-434A-BC1F-5261ADE12103}"/>
              </a:ext>
            </a:extLst>
          </p:cNvPr>
          <p:cNvSpPr>
            <a:spLocks noGrp="1"/>
          </p:cNvSpPr>
          <p:nvPr/>
        </p:nvSpPr>
        <p:spPr>
          <a:xfrm>
            <a:off x="5381625" y="3133725"/>
            <a:ext cx="6076950" cy="857250"/>
          </a:xfrm>
          <a:prstGeom prst="rect">
            <a:avLst/>
          </a:prstGeom>
          <a:noFill/>
          <a:ln w="0">
            <a:noFill/>
          </a:ln>
        </p:spPr>
        <p:txBody>
          <a:bodyPr/>
          <a:lstStyle>
            <a:defPPr>
              <a:defRPr sz="1875" b="0">
                <a:solidFill>
                  <a:srgbClr val="405B53"/>
                </a:solidFill>
                <a:latin typeface="Arial"/>
                <a:ea typeface="Arial"/>
                <a:cs typeface="Arial"/>
              </a:defRPr>
            </a:defPPr>
          </a:lstStyle>
          <a:p>
            <a:pPr>
              <a:defRPr sz="1875" b="0">
                <a:solidFill>
                  <a:srgbClr val="405B53"/>
                </a:solidFill>
                <a:latin typeface="Arial"/>
                <a:ea typeface="Arial"/>
                <a:cs typeface="Arial"/>
              </a:defRPr>
            </a:pPr>
            <a:r>
              <a:rPr sz="1875" b="0">
                <a:solidFill>
                  <a:srgbClr val="405B53"/>
                </a:solidFill>
                <a:latin typeface="Arial"/>
                <a:ea typeface="Arial"/>
                <a:cs typeface="Arial"/>
              </a:rPr>
              <a:t>Altered headlines, familiar outlet logos and old images can make false claims appear authentic.</a:t>
            </a:r>
          </a:p>
        </p:txBody>
      </p:sp>
      <p:sp>
        <p:nvSpPr>
          <p:cNvPr id="7" name="Rectangle 6">
            <a:extLst>
              <a:ext uri="{FF2B5EF4-FFF2-40B4-BE49-F238E27FC236}">
                <a16:creationId xmlns:a16="http://schemas.microsoft.com/office/drawing/2014/main" id="{AEBC5FCA-0237-40AC-9E46-2579B0AA100D}"/>
              </a:ext>
            </a:extLst>
          </p:cNvPr>
          <p:cNvSpPr>
            <a:spLocks noGrp="1"/>
          </p:cNvSpPr>
          <p:nvPr/>
        </p:nvSpPr>
        <p:spPr>
          <a:xfrm>
            <a:off x="609600" y="4171950"/>
            <a:ext cx="685800" cy="533400"/>
          </a:xfrm>
          <a:prstGeom prst="rect">
            <a:avLst/>
          </a:prstGeom>
          <a:noFill/>
          <a:ln w="0">
            <a:noFill/>
          </a:ln>
        </p:spPr>
        <p:txBody>
          <a:bodyPr/>
          <a:lstStyle>
            <a:defPPr>
              <a:defRPr sz="2550" b="1">
                <a:solidFill>
                  <a:srgbClr val="13694E"/>
                </a:solidFill>
                <a:latin typeface="Arial"/>
                <a:ea typeface="Arial"/>
                <a:cs typeface="Arial"/>
              </a:defRPr>
            </a:defPPr>
          </a:lstStyle>
          <a:p>
            <a:pPr>
              <a:defRPr sz="2550" b="1">
                <a:solidFill>
                  <a:srgbClr val="13694E"/>
                </a:solidFill>
                <a:latin typeface="Arial"/>
                <a:ea typeface="Arial"/>
                <a:cs typeface="Arial"/>
              </a:defRPr>
            </a:pPr>
            <a:r>
              <a:rPr sz="2550" b="1">
                <a:solidFill>
                  <a:srgbClr val="13694E"/>
                </a:solidFill>
                <a:latin typeface="Arial"/>
                <a:ea typeface="Arial"/>
                <a:cs typeface="Arial"/>
              </a:rPr>
              <a:t>02</a:t>
            </a:r>
          </a:p>
        </p:txBody>
      </p:sp>
      <p:sp>
        <p:nvSpPr>
          <p:cNvPr id="8" name="Rectangle 7">
            <a:extLst>
              <a:ext uri="{FF2B5EF4-FFF2-40B4-BE49-F238E27FC236}">
                <a16:creationId xmlns:a16="http://schemas.microsoft.com/office/drawing/2014/main" id="{1581EA34-6AB1-4304-8735-EA7D2055B56F}"/>
              </a:ext>
            </a:extLst>
          </p:cNvPr>
          <p:cNvSpPr>
            <a:spLocks noGrp="1"/>
          </p:cNvSpPr>
          <p:nvPr/>
        </p:nvSpPr>
        <p:spPr>
          <a:xfrm>
            <a:off x="1428750" y="4171950"/>
            <a:ext cx="3810000" cy="476250"/>
          </a:xfrm>
          <a:prstGeom prst="rect">
            <a:avLst/>
          </a:prstGeom>
          <a:noFill/>
          <a:ln w="0">
            <a:noFill/>
          </a:ln>
        </p:spPr>
        <p:txBody>
          <a:bodyPr/>
          <a:lstStyle>
            <a:defPPr>
              <a:defRPr sz="2175" b="1">
                <a:solidFill>
                  <a:srgbClr val="183C33"/>
                </a:solidFill>
                <a:latin typeface="Arial"/>
                <a:ea typeface="Arial"/>
                <a:cs typeface="Arial"/>
              </a:defRPr>
            </a:defPPr>
          </a:lstStyle>
          <a:p>
            <a:pPr>
              <a:defRPr sz="2175" b="1">
                <a:solidFill>
                  <a:srgbClr val="183C33"/>
                </a:solidFill>
                <a:latin typeface="Arial"/>
                <a:ea typeface="Arial"/>
                <a:cs typeface="Arial"/>
              </a:defRPr>
            </a:pPr>
            <a:r>
              <a:rPr sz="2175" b="1">
                <a:solidFill>
                  <a:srgbClr val="183C33"/>
                </a:solidFill>
                <a:latin typeface="Arial"/>
                <a:ea typeface="Arial"/>
                <a:cs typeface="Arial"/>
              </a:rPr>
              <a:t>Slow manual checking</a:t>
            </a:r>
          </a:p>
        </p:txBody>
      </p:sp>
      <p:sp>
        <p:nvSpPr>
          <p:cNvPr id="9" name="Rectangle 8">
            <a:extLst>
              <a:ext uri="{FF2B5EF4-FFF2-40B4-BE49-F238E27FC236}">
                <a16:creationId xmlns:a16="http://schemas.microsoft.com/office/drawing/2014/main" id="{D4A270F0-1954-44A7-8D88-3DA9C6D59395}"/>
              </a:ext>
            </a:extLst>
          </p:cNvPr>
          <p:cNvSpPr>
            <a:spLocks noGrp="1"/>
          </p:cNvSpPr>
          <p:nvPr/>
        </p:nvSpPr>
        <p:spPr>
          <a:xfrm>
            <a:off x="5381625" y="4171950"/>
            <a:ext cx="6076950" cy="857250"/>
          </a:xfrm>
          <a:prstGeom prst="rect">
            <a:avLst/>
          </a:prstGeom>
          <a:noFill/>
          <a:ln w="0">
            <a:noFill/>
          </a:ln>
        </p:spPr>
        <p:txBody>
          <a:bodyPr/>
          <a:lstStyle>
            <a:defPPr>
              <a:defRPr sz="1875" b="0">
                <a:solidFill>
                  <a:srgbClr val="405B53"/>
                </a:solidFill>
                <a:latin typeface="Arial"/>
                <a:ea typeface="Arial"/>
                <a:cs typeface="Arial"/>
              </a:defRPr>
            </a:defPPr>
          </a:lstStyle>
          <a:p>
            <a:pPr>
              <a:defRPr sz="1875" b="0">
                <a:solidFill>
                  <a:srgbClr val="405B53"/>
                </a:solidFill>
                <a:latin typeface="Arial"/>
                <a:ea typeface="Arial"/>
                <a:cs typeface="Arial"/>
              </a:defRPr>
            </a:pPr>
            <a:r>
              <a:rPr sz="1875" b="0">
                <a:solidFill>
                  <a:srgbClr val="405B53"/>
                </a:solidFill>
                <a:latin typeface="Arial"/>
                <a:ea typeface="Arial"/>
                <a:cs typeface="Arial"/>
              </a:rPr>
              <a:t>Users must locate the original article and compare the wording, source and publication date.</a:t>
            </a:r>
          </a:p>
        </p:txBody>
      </p:sp>
      <p:sp>
        <p:nvSpPr>
          <p:cNvPr id="10" name="Rectangle 9">
            <a:extLst>
              <a:ext uri="{FF2B5EF4-FFF2-40B4-BE49-F238E27FC236}">
                <a16:creationId xmlns:a16="http://schemas.microsoft.com/office/drawing/2014/main" id="{A3958C64-B510-4E21-85B4-5C6D6AB70B91}"/>
              </a:ext>
            </a:extLst>
          </p:cNvPr>
          <p:cNvSpPr>
            <a:spLocks noGrp="1"/>
          </p:cNvSpPr>
          <p:nvPr/>
        </p:nvSpPr>
        <p:spPr>
          <a:xfrm>
            <a:off x="609600" y="5210175"/>
            <a:ext cx="685800" cy="533400"/>
          </a:xfrm>
          <a:prstGeom prst="rect">
            <a:avLst/>
          </a:prstGeom>
          <a:noFill/>
          <a:ln w="0">
            <a:noFill/>
          </a:ln>
        </p:spPr>
        <p:txBody>
          <a:bodyPr/>
          <a:lstStyle>
            <a:defPPr>
              <a:defRPr sz="2550" b="1">
                <a:solidFill>
                  <a:srgbClr val="13694E"/>
                </a:solidFill>
                <a:latin typeface="Arial"/>
                <a:ea typeface="Arial"/>
                <a:cs typeface="Arial"/>
              </a:defRPr>
            </a:defPPr>
          </a:lstStyle>
          <a:p>
            <a:pPr>
              <a:defRPr sz="2550" b="1">
                <a:solidFill>
                  <a:srgbClr val="13694E"/>
                </a:solidFill>
                <a:latin typeface="Arial"/>
                <a:ea typeface="Arial"/>
                <a:cs typeface="Arial"/>
              </a:defRPr>
            </a:pPr>
            <a:r>
              <a:rPr sz="2550" b="1">
                <a:solidFill>
                  <a:srgbClr val="13694E"/>
                </a:solidFill>
                <a:latin typeface="Arial"/>
                <a:ea typeface="Arial"/>
                <a:cs typeface="Arial"/>
              </a:rPr>
              <a:t>03</a:t>
            </a:r>
          </a:p>
        </p:txBody>
      </p:sp>
      <p:sp>
        <p:nvSpPr>
          <p:cNvPr id="11" name="Rectangle 10">
            <a:extLst>
              <a:ext uri="{FF2B5EF4-FFF2-40B4-BE49-F238E27FC236}">
                <a16:creationId xmlns:a16="http://schemas.microsoft.com/office/drawing/2014/main" id="{E752F177-F075-440D-B6B1-8B503D4577E9}"/>
              </a:ext>
            </a:extLst>
          </p:cNvPr>
          <p:cNvSpPr>
            <a:spLocks noGrp="1"/>
          </p:cNvSpPr>
          <p:nvPr/>
        </p:nvSpPr>
        <p:spPr>
          <a:xfrm>
            <a:off x="1428750" y="5210175"/>
            <a:ext cx="3810000" cy="476250"/>
          </a:xfrm>
          <a:prstGeom prst="rect">
            <a:avLst/>
          </a:prstGeom>
          <a:noFill/>
          <a:ln w="0">
            <a:noFill/>
          </a:ln>
        </p:spPr>
        <p:txBody>
          <a:bodyPr/>
          <a:lstStyle>
            <a:defPPr>
              <a:defRPr sz="2175" b="1">
                <a:solidFill>
                  <a:srgbClr val="183C33"/>
                </a:solidFill>
                <a:latin typeface="Arial"/>
                <a:ea typeface="Arial"/>
                <a:cs typeface="Arial"/>
              </a:defRPr>
            </a:defPPr>
          </a:lstStyle>
          <a:p>
            <a:pPr>
              <a:defRPr sz="2175" b="1">
                <a:solidFill>
                  <a:srgbClr val="183C33"/>
                </a:solidFill>
                <a:latin typeface="Arial"/>
                <a:ea typeface="Arial"/>
                <a:cs typeface="Arial"/>
              </a:defRPr>
            </a:pPr>
            <a:r>
              <a:rPr sz="2175" b="1">
                <a:solidFill>
                  <a:srgbClr val="183C33"/>
                </a:solidFill>
                <a:latin typeface="Arial"/>
                <a:ea typeface="Arial"/>
                <a:cs typeface="Arial"/>
              </a:rPr>
              <a:t>Incomplete evidence</a:t>
            </a:r>
          </a:p>
        </p:txBody>
      </p:sp>
      <p:sp>
        <p:nvSpPr>
          <p:cNvPr id="12" name="Rectangle 11">
            <a:extLst>
              <a:ext uri="{FF2B5EF4-FFF2-40B4-BE49-F238E27FC236}">
                <a16:creationId xmlns:a16="http://schemas.microsoft.com/office/drawing/2014/main" id="{E01B74EA-8C14-4B87-AFC8-CD69992FE35A}"/>
              </a:ext>
            </a:extLst>
          </p:cNvPr>
          <p:cNvSpPr>
            <a:spLocks noGrp="1"/>
          </p:cNvSpPr>
          <p:nvPr/>
        </p:nvSpPr>
        <p:spPr>
          <a:xfrm>
            <a:off x="5381625" y="5210175"/>
            <a:ext cx="6076950" cy="857250"/>
          </a:xfrm>
          <a:prstGeom prst="rect">
            <a:avLst/>
          </a:prstGeom>
          <a:noFill/>
          <a:ln w="0">
            <a:noFill/>
          </a:ln>
        </p:spPr>
        <p:txBody>
          <a:bodyPr/>
          <a:lstStyle>
            <a:defPPr>
              <a:defRPr sz="1875" b="0">
                <a:solidFill>
                  <a:srgbClr val="405B53"/>
                </a:solidFill>
                <a:latin typeface="Arial"/>
                <a:ea typeface="Arial"/>
                <a:cs typeface="Arial"/>
              </a:defRPr>
            </a:defPPr>
          </a:lstStyle>
          <a:p>
            <a:pPr>
              <a:defRPr sz="1875" b="0">
                <a:solidFill>
                  <a:srgbClr val="405B53"/>
                </a:solidFill>
                <a:latin typeface="Arial"/>
                <a:ea typeface="Arial"/>
                <a:cs typeface="Arial"/>
              </a:defRPr>
            </a:pPr>
            <a:r>
              <a:rPr sz="1875" b="0">
                <a:solidFill>
                  <a:srgbClr val="405B53"/>
                </a:solidFill>
                <a:latin typeface="Arial"/>
                <a:ea typeface="Arial"/>
                <a:cs typeface="Arial"/>
              </a:rPr>
              <a:t>An automated prediction or missing search result cannot establish the truth of a claim.</a:t>
            </a:r>
          </a:p>
        </p:txBody>
      </p:sp>
    </p:spTree>
    <p:extLst>
      <p:ext uri="{BB962C8B-B14F-4D97-AF65-F5344CB8AC3E}">
        <p14:creationId xmlns:p14="http://schemas.microsoft.com/office/powerpoint/2010/main" val="1291699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9047264-F630-47CD-8385-8E72559158DB}"/>
              </a:ext>
            </a:extLst>
          </p:cNvPr>
          <p:cNvSpPr>
            <a:spLocks noGrp="1"/>
          </p:cNvSpPr>
          <p:nvPr/>
        </p:nvSpPr>
        <p:spPr>
          <a:xfrm>
            <a:off x="609600" y="428625"/>
            <a:ext cx="10972800" cy="742950"/>
          </a:xfrm>
          <a:prstGeom prst="rect">
            <a:avLst/>
          </a:prstGeom>
          <a:noFill/>
          <a:ln w="0">
            <a:noFill/>
          </a:ln>
        </p:spPr>
        <p:txBody>
          <a:bodyPr/>
          <a:lstStyle>
            <a:defPPr>
              <a:defRPr sz="3300" b="1">
                <a:solidFill>
                  <a:srgbClr val="183C33"/>
                </a:solidFill>
                <a:latin typeface="Arial"/>
                <a:ea typeface="Arial"/>
                <a:cs typeface="Arial"/>
              </a:defRPr>
            </a:defPPr>
          </a:lstStyle>
          <a:p>
            <a:pPr>
              <a:defRPr sz="3300" b="1">
                <a:solidFill>
                  <a:srgbClr val="183C33"/>
                </a:solidFill>
                <a:latin typeface="Arial"/>
                <a:ea typeface="Arial"/>
                <a:cs typeface="Arial"/>
              </a:defRPr>
            </a:pPr>
            <a:r>
              <a:rPr sz="3300" b="1">
                <a:solidFill>
                  <a:srgbClr val="183C33"/>
                </a:solidFill>
                <a:latin typeface="Arial"/>
                <a:ea typeface="Arial"/>
                <a:cs typeface="Arial"/>
              </a:rPr>
              <a:t>Proposed solution</a:t>
            </a:r>
          </a:p>
        </p:txBody>
      </p:sp>
      <p:sp>
        <p:nvSpPr>
          <p:cNvPr id="2" name="Rectangle 1">
            <a:extLst>
              <a:ext uri="{FF2B5EF4-FFF2-40B4-BE49-F238E27FC236}">
                <a16:creationId xmlns:a16="http://schemas.microsoft.com/office/drawing/2014/main" id="{D2B3161F-0089-46E7-A089-40C5962D7909}"/>
              </a:ext>
            </a:extLst>
          </p:cNvPr>
          <p:cNvSpPr>
            <a:spLocks noGrp="1"/>
          </p:cNvSpPr>
          <p:nvPr/>
        </p:nvSpPr>
        <p:spPr>
          <a:xfrm>
            <a:off x="11049000" y="6305550"/>
            <a:ext cx="523875" cy="228600"/>
          </a:xfrm>
          <a:prstGeom prst="rect">
            <a:avLst/>
          </a:prstGeom>
          <a:noFill/>
          <a:ln w="0">
            <a:noFill/>
          </a:ln>
        </p:spPr>
        <p:txBody>
          <a:bodyPr/>
          <a:lstStyle>
            <a:defPPr>
              <a:defRPr sz="1275" b="0">
                <a:solidFill>
                  <a:srgbClr val="6B8078"/>
                </a:solidFill>
                <a:latin typeface="Arial"/>
                <a:ea typeface="Arial"/>
                <a:cs typeface="Arial"/>
              </a:defRPr>
            </a:defPPr>
          </a:lstStyle>
          <a:p>
            <a:pPr>
              <a:defRPr sz="1275" b="0">
                <a:solidFill>
                  <a:srgbClr val="6B8078"/>
                </a:solidFill>
                <a:latin typeface="Arial"/>
                <a:ea typeface="Arial"/>
                <a:cs typeface="Arial"/>
              </a:defRPr>
            </a:pPr>
            <a:r>
              <a:rPr sz="1275" b="0">
                <a:solidFill>
                  <a:srgbClr val="6B8078"/>
                </a:solidFill>
                <a:latin typeface="Arial"/>
                <a:ea typeface="Arial"/>
                <a:cs typeface="Arial"/>
              </a:rPr>
              <a:t>03</a:t>
            </a:r>
          </a:p>
        </p:txBody>
      </p:sp>
      <p:sp>
        <p:nvSpPr>
          <p:cNvPr id="3" name="Rectangle 2">
            <a:extLst>
              <a:ext uri="{FF2B5EF4-FFF2-40B4-BE49-F238E27FC236}">
                <a16:creationId xmlns:a16="http://schemas.microsoft.com/office/drawing/2014/main" id="{A1D05738-422B-4796-9BB6-8E0CC452DFAB}"/>
              </a:ext>
            </a:extLst>
          </p:cNvPr>
          <p:cNvSpPr>
            <a:spLocks noGrp="1"/>
          </p:cNvSpPr>
          <p:nvPr/>
        </p:nvSpPr>
        <p:spPr>
          <a:xfrm>
            <a:off x="609600" y="1381125"/>
            <a:ext cx="10668000" cy="857250"/>
          </a:xfrm>
          <a:prstGeom prst="rect">
            <a:avLst/>
          </a:prstGeom>
          <a:noFill/>
          <a:ln w="0">
            <a:noFill/>
          </a:ln>
        </p:spPr>
        <p:txBody>
          <a:bodyPr/>
          <a:lstStyle>
            <a:defPPr>
              <a:defRPr sz="2550" b="1">
                <a:solidFill>
                  <a:srgbClr val="183C33"/>
                </a:solidFill>
                <a:latin typeface="Arial"/>
                <a:ea typeface="Arial"/>
                <a:cs typeface="Arial"/>
              </a:defRPr>
            </a:defPPr>
          </a:lstStyle>
          <a:p>
            <a:pPr>
              <a:defRPr sz="2550" b="1">
                <a:solidFill>
                  <a:srgbClr val="183C33"/>
                </a:solidFill>
                <a:latin typeface="Arial"/>
                <a:ea typeface="Arial"/>
                <a:cs typeface="Arial"/>
              </a:defRPr>
            </a:pPr>
            <a:r>
              <a:rPr sz="2550" b="1">
                <a:solidFill>
                  <a:srgbClr val="183C33"/>
                </a:solidFill>
                <a:latin typeface="Arial"/>
                <a:ea typeface="Arial"/>
                <a:cs typeface="Arial"/>
              </a:rPr>
              <a:t>One platform for automated findings, published evidence and expert review.</a:t>
            </a:r>
          </a:p>
        </p:txBody>
      </p:sp>
      <p:sp>
        <p:nvSpPr>
          <p:cNvPr id="4" name="Rectangle 3">
            <a:extLst>
              <a:ext uri="{FF2B5EF4-FFF2-40B4-BE49-F238E27FC236}">
                <a16:creationId xmlns:a16="http://schemas.microsoft.com/office/drawing/2014/main" id="{74AD99D3-8945-48C3-B105-D6CCA31D7E88}"/>
              </a:ext>
            </a:extLst>
          </p:cNvPr>
          <p:cNvSpPr>
            <a:spLocks noGrp="1"/>
          </p:cNvSpPr>
          <p:nvPr/>
        </p:nvSpPr>
        <p:spPr>
          <a:xfrm>
            <a:off x="609600" y="2667000"/>
            <a:ext cx="685800" cy="533400"/>
          </a:xfrm>
          <a:prstGeom prst="rect">
            <a:avLst/>
          </a:prstGeom>
          <a:noFill/>
          <a:ln w="0">
            <a:noFill/>
          </a:ln>
        </p:spPr>
        <p:txBody>
          <a:bodyPr/>
          <a:lstStyle>
            <a:defPPr>
              <a:defRPr sz="2550" b="1">
                <a:solidFill>
                  <a:srgbClr val="13694E"/>
                </a:solidFill>
                <a:latin typeface="Arial"/>
                <a:ea typeface="Arial"/>
                <a:cs typeface="Arial"/>
              </a:defRPr>
            </a:defPPr>
          </a:lstStyle>
          <a:p>
            <a:pPr>
              <a:defRPr sz="2550" b="1">
                <a:solidFill>
                  <a:srgbClr val="13694E"/>
                </a:solidFill>
                <a:latin typeface="Arial"/>
                <a:ea typeface="Arial"/>
                <a:cs typeface="Arial"/>
              </a:defRPr>
            </a:pPr>
            <a:r>
              <a:rPr sz="2550" b="1">
                <a:solidFill>
                  <a:srgbClr val="13694E"/>
                </a:solidFill>
                <a:latin typeface="Arial"/>
                <a:ea typeface="Arial"/>
                <a:cs typeface="Arial"/>
              </a:rPr>
              <a:t>01</a:t>
            </a:r>
          </a:p>
        </p:txBody>
      </p:sp>
      <p:sp>
        <p:nvSpPr>
          <p:cNvPr id="5" name="Rectangle 4">
            <a:extLst>
              <a:ext uri="{FF2B5EF4-FFF2-40B4-BE49-F238E27FC236}">
                <a16:creationId xmlns:a16="http://schemas.microsoft.com/office/drawing/2014/main" id="{6950F045-B6D5-46E1-93C1-A250DF70F3E9}"/>
              </a:ext>
            </a:extLst>
          </p:cNvPr>
          <p:cNvSpPr>
            <a:spLocks noGrp="1"/>
          </p:cNvSpPr>
          <p:nvPr/>
        </p:nvSpPr>
        <p:spPr>
          <a:xfrm>
            <a:off x="1428750" y="2667000"/>
            <a:ext cx="3810000" cy="476250"/>
          </a:xfrm>
          <a:prstGeom prst="rect">
            <a:avLst/>
          </a:prstGeom>
          <a:noFill/>
          <a:ln w="0">
            <a:noFill/>
          </a:ln>
        </p:spPr>
        <p:txBody>
          <a:bodyPr/>
          <a:lstStyle>
            <a:defPPr>
              <a:defRPr sz="2175" b="1">
                <a:solidFill>
                  <a:srgbClr val="183C33"/>
                </a:solidFill>
                <a:latin typeface="Arial"/>
                <a:ea typeface="Arial"/>
                <a:cs typeface="Arial"/>
              </a:defRPr>
            </a:defPPr>
          </a:lstStyle>
          <a:p>
            <a:pPr>
              <a:defRPr sz="2175" b="1">
                <a:solidFill>
                  <a:srgbClr val="183C33"/>
                </a:solidFill>
                <a:latin typeface="Arial"/>
                <a:ea typeface="Arial"/>
                <a:cs typeface="Arial"/>
              </a:defRPr>
            </a:pPr>
            <a:r>
              <a:rPr sz="2175" b="1">
                <a:solidFill>
                  <a:srgbClr val="183C33"/>
                </a:solidFill>
                <a:latin typeface="Arial"/>
                <a:ea typeface="Arial"/>
                <a:cs typeface="Arial"/>
              </a:rPr>
              <a:t>Text &amp; source</a:t>
            </a:r>
          </a:p>
        </p:txBody>
      </p:sp>
      <p:sp>
        <p:nvSpPr>
          <p:cNvPr id="6" name="Rectangle 5">
            <a:extLst>
              <a:ext uri="{FF2B5EF4-FFF2-40B4-BE49-F238E27FC236}">
                <a16:creationId xmlns:a16="http://schemas.microsoft.com/office/drawing/2014/main" id="{3A2534BF-285B-4FF0-87B1-61743759BE1B}"/>
              </a:ext>
            </a:extLst>
          </p:cNvPr>
          <p:cNvSpPr>
            <a:spLocks noGrp="1"/>
          </p:cNvSpPr>
          <p:nvPr/>
        </p:nvSpPr>
        <p:spPr>
          <a:xfrm>
            <a:off x="5381625" y="2667000"/>
            <a:ext cx="6076950" cy="857250"/>
          </a:xfrm>
          <a:prstGeom prst="rect">
            <a:avLst/>
          </a:prstGeom>
          <a:noFill/>
          <a:ln w="0">
            <a:noFill/>
          </a:ln>
        </p:spPr>
        <p:txBody>
          <a:bodyPr/>
          <a:lstStyle>
            <a:defPPr>
              <a:defRPr sz="1875" b="0">
                <a:solidFill>
                  <a:srgbClr val="405B53"/>
                </a:solidFill>
                <a:latin typeface="Arial"/>
                <a:ea typeface="Arial"/>
                <a:cs typeface="Arial"/>
              </a:defRPr>
            </a:defPPr>
          </a:lstStyle>
          <a:p>
            <a:pPr>
              <a:defRPr sz="1875" b="0">
                <a:solidFill>
                  <a:srgbClr val="405B53"/>
                </a:solidFill>
                <a:latin typeface="Arial"/>
                <a:ea typeface="Arial"/>
                <a:cs typeface="Arial"/>
              </a:defRPr>
            </a:pPr>
            <a:r>
              <a:rPr sz="1875" b="0" dirty="0">
                <a:solidFill>
                  <a:srgbClr val="405B53"/>
                </a:solidFill>
                <a:latin typeface="Arial"/>
                <a:ea typeface="Arial"/>
                <a:cs typeface="Arial"/>
              </a:rPr>
              <a:t>Compare a Bangla headline</a:t>
            </a:r>
            <a:r>
              <a:rPr lang="en-US" sz="1875" b="0" dirty="0">
                <a:solidFill>
                  <a:srgbClr val="405B53"/>
                </a:solidFill>
                <a:latin typeface="Arial"/>
                <a:ea typeface="Arial"/>
                <a:cs typeface="Arial"/>
              </a:rPr>
              <a:t>, article text and published date</a:t>
            </a:r>
            <a:r>
              <a:rPr sz="1875" b="0" dirty="0">
                <a:solidFill>
                  <a:srgbClr val="405B53"/>
                </a:solidFill>
                <a:latin typeface="Arial"/>
                <a:ea typeface="Arial"/>
                <a:cs typeface="Arial"/>
              </a:rPr>
              <a:t> with news reports</a:t>
            </a:r>
            <a:r>
              <a:rPr lang="en-US" sz="1875" b="0" dirty="0">
                <a:solidFill>
                  <a:srgbClr val="405B53"/>
                </a:solidFill>
                <a:latin typeface="Arial"/>
                <a:ea typeface="Arial"/>
                <a:cs typeface="Arial"/>
              </a:rPr>
              <a:t>.</a:t>
            </a:r>
            <a:endParaRPr sz="1875" b="0" dirty="0">
              <a:solidFill>
                <a:srgbClr val="405B53"/>
              </a:solidFill>
              <a:latin typeface="Arial"/>
              <a:ea typeface="Arial"/>
              <a:cs typeface="Arial"/>
            </a:endParaRPr>
          </a:p>
        </p:txBody>
      </p:sp>
      <p:sp>
        <p:nvSpPr>
          <p:cNvPr id="7" name="Rectangle 6">
            <a:extLst>
              <a:ext uri="{FF2B5EF4-FFF2-40B4-BE49-F238E27FC236}">
                <a16:creationId xmlns:a16="http://schemas.microsoft.com/office/drawing/2014/main" id="{588925B6-DBA8-4913-93C2-AABDFC12809F}"/>
              </a:ext>
            </a:extLst>
          </p:cNvPr>
          <p:cNvSpPr>
            <a:spLocks noGrp="1"/>
          </p:cNvSpPr>
          <p:nvPr/>
        </p:nvSpPr>
        <p:spPr>
          <a:xfrm>
            <a:off x="609600" y="3800475"/>
            <a:ext cx="685800" cy="533400"/>
          </a:xfrm>
          <a:prstGeom prst="rect">
            <a:avLst/>
          </a:prstGeom>
          <a:noFill/>
          <a:ln w="0">
            <a:noFill/>
          </a:ln>
        </p:spPr>
        <p:txBody>
          <a:bodyPr/>
          <a:lstStyle>
            <a:defPPr>
              <a:defRPr sz="2550" b="1">
                <a:solidFill>
                  <a:srgbClr val="13694E"/>
                </a:solidFill>
                <a:latin typeface="Arial"/>
                <a:ea typeface="Arial"/>
                <a:cs typeface="Arial"/>
              </a:defRPr>
            </a:defPPr>
          </a:lstStyle>
          <a:p>
            <a:pPr>
              <a:defRPr sz="2550" b="1">
                <a:solidFill>
                  <a:srgbClr val="13694E"/>
                </a:solidFill>
                <a:latin typeface="Arial"/>
                <a:ea typeface="Arial"/>
                <a:cs typeface="Arial"/>
              </a:defRPr>
            </a:pPr>
            <a:r>
              <a:rPr sz="2550" b="1">
                <a:solidFill>
                  <a:srgbClr val="13694E"/>
                </a:solidFill>
                <a:latin typeface="Arial"/>
                <a:ea typeface="Arial"/>
                <a:cs typeface="Arial"/>
              </a:rPr>
              <a:t>02</a:t>
            </a:r>
          </a:p>
        </p:txBody>
      </p:sp>
      <p:sp>
        <p:nvSpPr>
          <p:cNvPr id="8" name="Rectangle 7">
            <a:extLst>
              <a:ext uri="{FF2B5EF4-FFF2-40B4-BE49-F238E27FC236}">
                <a16:creationId xmlns:a16="http://schemas.microsoft.com/office/drawing/2014/main" id="{BB87E436-85FD-42FE-93E9-BD6CBA9CE7C2}"/>
              </a:ext>
            </a:extLst>
          </p:cNvPr>
          <p:cNvSpPr>
            <a:spLocks noGrp="1"/>
          </p:cNvSpPr>
          <p:nvPr/>
        </p:nvSpPr>
        <p:spPr>
          <a:xfrm>
            <a:off x="1428750" y="3800475"/>
            <a:ext cx="3810000" cy="476250"/>
          </a:xfrm>
          <a:prstGeom prst="rect">
            <a:avLst/>
          </a:prstGeom>
          <a:noFill/>
          <a:ln w="0">
            <a:noFill/>
          </a:ln>
        </p:spPr>
        <p:txBody>
          <a:bodyPr/>
          <a:lstStyle>
            <a:defPPr>
              <a:defRPr sz="2175" b="1">
                <a:solidFill>
                  <a:srgbClr val="183C33"/>
                </a:solidFill>
                <a:latin typeface="Arial"/>
                <a:ea typeface="Arial"/>
                <a:cs typeface="Arial"/>
              </a:defRPr>
            </a:defPPr>
          </a:lstStyle>
          <a:p>
            <a:pPr>
              <a:defRPr sz="2175" b="1">
                <a:solidFill>
                  <a:srgbClr val="183C33"/>
                </a:solidFill>
                <a:latin typeface="Arial"/>
                <a:ea typeface="Arial"/>
                <a:cs typeface="Arial"/>
              </a:defRPr>
            </a:pPr>
            <a:r>
              <a:rPr sz="2175" b="1">
                <a:solidFill>
                  <a:srgbClr val="183C33"/>
                </a:solidFill>
                <a:latin typeface="Arial"/>
                <a:ea typeface="Arial"/>
                <a:cs typeface="Arial"/>
              </a:rPr>
              <a:t>Photo card</a:t>
            </a:r>
          </a:p>
        </p:txBody>
      </p:sp>
      <p:sp>
        <p:nvSpPr>
          <p:cNvPr id="9" name="Rectangle 8">
            <a:extLst>
              <a:ext uri="{FF2B5EF4-FFF2-40B4-BE49-F238E27FC236}">
                <a16:creationId xmlns:a16="http://schemas.microsoft.com/office/drawing/2014/main" id="{CC511616-A2C6-46A7-BDFE-A7A38C0B3D64}"/>
              </a:ext>
            </a:extLst>
          </p:cNvPr>
          <p:cNvSpPr>
            <a:spLocks noGrp="1"/>
          </p:cNvSpPr>
          <p:nvPr/>
        </p:nvSpPr>
        <p:spPr>
          <a:xfrm>
            <a:off x="5381625" y="3800475"/>
            <a:ext cx="6076950" cy="857250"/>
          </a:xfrm>
          <a:prstGeom prst="rect">
            <a:avLst/>
          </a:prstGeom>
          <a:noFill/>
          <a:ln w="0">
            <a:noFill/>
          </a:ln>
        </p:spPr>
        <p:txBody>
          <a:bodyPr/>
          <a:lstStyle>
            <a:defPPr>
              <a:defRPr sz="1875" b="0">
                <a:solidFill>
                  <a:srgbClr val="405B53"/>
                </a:solidFill>
                <a:latin typeface="Arial"/>
                <a:ea typeface="Arial"/>
                <a:cs typeface="Arial"/>
              </a:defRPr>
            </a:defPPr>
          </a:lstStyle>
          <a:p>
            <a:pPr>
              <a:defRPr sz="1875" b="0">
                <a:solidFill>
                  <a:srgbClr val="405B53"/>
                </a:solidFill>
                <a:latin typeface="Arial"/>
                <a:ea typeface="Arial"/>
                <a:cs typeface="Arial"/>
              </a:defRPr>
            </a:pPr>
            <a:r>
              <a:rPr sz="1875" b="0">
                <a:solidFill>
                  <a:srgbClr val="405B53"/>
                </a:solidFill>
                <a:latin typeface="Arial"/>
                <a:ea typeface="Arial"/>
                <a:cs typeface="Arial"/>
              </a:rPr>
              <a:t>Read the printed headline, outlet and date, then check the extracted claim against available evidence.</a:t>
            </a:r>
          </a:p>
        </p:txBody>
      </p:sp>
      <p:sp>
        <p:nvSpPr>
          <p:cNvPr id="10" name="Rectangle 9">
            <a:extLst>
              <a:ext uri="{FF2B5EF4-FFF2-40B4-BE49-F238E27FC236}">
                <a16:creationId xmlns:a16="http://schemas.microsoft.com/office/drawing/2014/main" id="{82E0930E-B77F-4E36-BAB6-D5247919221A}"/>
              </a:ext>
            </a:extLst>
          </p:cNvPr>
          <p:cNvSpPr>
            <a:spLocks noGrp="1"/>
          </p:cNvSpPr>
          <p:nvPr/>
        </p:nvSpPr>
        <p:spPr>
          <a:xfrm>
            <a:off x="609600" y="4933950"/>
            <a:ext cx="685800" cy="533400"/>
          </a:xfrm>
          <a:prstGeom prst="rect">
            <a:avLst/>
          </a:prstGeom>
          <a:noFill/>
          <a:ln w="0">
            <a:noFill/>
          </a:ln>
        </p:spPr>
        <p:txBody>
          <a:bodyPr/>
          <a:lstStyle>
            <a:defPPr>
              <a:defRPr sz="2550" b="1">
                <a:solidFill>
                  <a:srgbClr val="13694E"/>
                </a:solidFill>
                <a:latin typeface="Arial"/>
                <a:ea typeface="Arial"/>
                <a:cs typeface="Arial"/>
              </a:defRPr>
            </a:defPPr>
          </a:lstStyle>
          <a:p>
            <a:pPr>
              <a:defRPr sz="2550" b="1">
                <a:solidFill>
                  <a:srgbClr val="13694E"/>
                </a:solidFill>
                <a:latin typeface="Arial"/>
                <a:ea typeface="Arial"/>
                <a:cs typeface="Arial"/>
              </a:defRPr>
            </a:pPr>
            <a:r>
              <a:rPr sz="2550" b="1">
                <a:solidFill>
                  <a:srgbClr val="13694E"/>
                </a:solidFill>
                <a:latin typeface="Arial"/>
                <a:ea typeface="Arial"/>
                <a:cs typeface="Arial"/>
              </a:rPr>
              <a:t>03</a:t>
            </a:r>
          </a:p>
        </p:txBody>
      </p:sp>
      <p:sp>
        <p:nvSpPr>
          <p:cNvPr id="11" name="Rectangle 10">
            <a:extLst>
              <a:ext uri="{FF2B5EF4-FFF2-40B4-BE49-F238E27FC236}">
                <a16:creationId xmlns:a16="http://schemas.microsoft.com/office/drawing/2014/main" id="{E1EA7C31-1C70-4666-8488-772BE313E74D}"/>
              </a:ext>
            </a:extLst>
          </p:cNvPr>
          <p:cNvSpPr>
            <a:spLocks noGrp="1"/>
          </p:cNvSpPr>
          <p:nvPr/>
        </p:nvSpPr>
        <p:spPr>
          <a:xfrm>
            <a:off x="1428750" y="4933950"/>
            <a:ext cx="3810000" cy="476250"/>
          </a:xfrm>
          <a:prstGeom prst="rect">
            <a:avLst/>
          </a:prstGeom>
          <a:noFill/>
          <a:ln w="0">
            <a:noFill/>
          </a:ln>
        </p:spPr>
        <p:txBody>
          <a:bodyPr/>
          <a:lstStyle>
            <a:defPPr>
              <a:defRPr sz="2175" b="1">
                <a:solidFill>
                  <a:srgbClr val="183C33"/>
                </a:solidFill>
                <a:latin typeface="Arial"/>
                <a:ea typeface="Arial"/>
                <a:cs typeface="Arial"/>
              </a:defRPr>
            </a:defPPr>
          </a:lstStyle>
          <a:p>
            <a:pPr>
              <a:defRPr sz="2175" b="1">
                <a:solidFill>
                  <a:srgbClr val="183C33"/>
                </a:solidFill>
                <a:latin typeface="Arial"/>
                <a:ea typeface="Arial"/>
                <a:cs typeface="Arial"/>
              </a:defRPr>
            </a:pPr>
            <a:r>
              <a:rPr sz="2175" b="1">
                <a:solidFill>
                  <a:srgbClr val="183C33"/>
                </a:solidFill>
                <a:latin typeface="Arial"/>
                <a:ea typeface="Arial"/>
                <a:cs typeface="Arial"/>
              </a:rPr>
              <a:t>Text &amp; image</a:t>
            </a:r>
          </a:p>
        </p:txBody>
      </p:sp>
      <p:sp>
        <p:nvSpPr>
          <p:cNvPr id="12" name="Rectangle 11">
            <a:extLst>
              <a:ext uri="{FF2B5EF4-FFF2-40B4-BE49-F238E27FC236}">
                <a16:creationId xmlns:a16="http://schemas.microsoft.com/office/drawing/2014/main" id="{8FB5EA5E-2B5B-4BFD-89FB-64D7F9533C34}"/>
              </a:ext>
            </a:extLst>
          </p:cNvPr>
          <p:cNvSpPr>
            <a:spLocks noGrp="1"/>
          </p:cNvSpPr>
          <p:nvPr/>
        </p:nvSpPr>
        <p:spPr>
          <a:xfrm>
            <a:off x="5381625" y="4933950"/>
            <a:ext cx="6076950" cy="857250"/>
          </a:xfrm>
          <a:prstGeom prst="rect">
            <a:avLst/>
          </a:prstGeom>
          <a:noFill/>
          <a:ln w="0">
            <a:noFill/>
          </a:ln>
        </p:spPr>
        <p:txBody>
          <a:bodyPr/>
          <a:lstStyle>
            <a:defPPr>
              <a:defRPr sz="1875" b="0">
                <a:solidFill>
                  <a:srgbClr val="405B53"/>
                </a:solidFill>
                <a:latin typeface="Arial"/>
                <a:ea typeface="Arial"/>
                <a:cs typeface="Arial"/>
              </a:defRPr>
            </a:defPPr>
          </a:lstStyle>
          <a:p>
            <a:pPr>
              <a:defRPr sz="1875" b="0">
                <a:solidFill>
                  <a:srgbClr val="405B53"/>
                </a:solidFill>
                <a:latin typeface="Arial"/>
                <a:ea typeface="Arial"/>
                <a:cs typeface="Arial"/>
              </a:defRPr>
            </a:pPr>
            <a:r>
              <a:rPr sz="1875" b="0">
                <a:solidFill>
                  <a:srgbClr val="405B53"/>
                </a:solidFill>
                <a:latin typeface="Arial"/>
                <a:ea typeface="Arial"/>
                <a:cs typeface="Arial"/>
              </a:rPr>
              <a:t>Combine article text and an image to produce a preliminary Likely Real or Likely Fake prediction.</a:t>
            </a:r>
          </a:p>
        </p:txBody>
      </p:sp>
    </p:spTree>
    <p:extLst>
      <p:ext uri="{BB962C8B-B14F-4D97-AF65-F5344CB8AC3E}">
        <p14:creationId xmlns:p14="http://schemas.microsoft.com/office/powerpoint/2010/main" val="435520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278DBC7-7B9E-49EC-A876-146B2C4F0929}"/>
              </a:ext>
            </a:extLst>
          </p:cNvPr>
          <p:cNvSpPr>
            <a:spLocks noGrp="1"/>
          </p:cNvSpPr>
          <p:nvPr/>
        </p:nvSpPr>
        <p:spPr>
          <a:xfrm>
            <a:off x="609600" y="428625"/>
            <a:ext cx="10972800" cy="742950"/>
          </a:xfrm>
          <a:prstGeom prst="rect">
            <a:avLst/>
          </a:prstGeom>
          <a:noFill/>
          <a:ln w="0">
            <a:noFill/>
          </a:ln>
        </p:spPr>
        <p:txBody>
          <a:bodyPr/>
          <a:lstStyle>
            <a:defPPr>
              <a:defRPr sz="3300" b="1">
                <a:solidFill>
                  <a:srgbClr val="183C33"/>
                </a:solidFill>
                <a:latin typeface="Arial"/>
                <a:ea typeface="Arial"/>
                <a:cs typeface="Arial"/>
              </a:defRPr>
            </a:defPPr>
          </a:lstStyle>
          <a:p>
            <a:pPr>
              <a:defRPr sz="3300" b="1">
                <a:solidFill>
                  <a:srgbClr val="183C33"/>
                </a:solidFill>
                <a:latin typeface="Arial"/>
                <a:ea typeface="Arial"/>
                <a:cs typeface="Arial"/>
              </a:defRPr>
            </a:pPr>
            <a:r>
              <a:rPr sz="3300" b="1" dirty="0">
                <a:solidFill>
                  <a:srgbClr val="183C33"/>
                </a:solidFill>
                <a:latin typeface="Arial"/>
                <a:ea typeface="Arial"/>
                <a:cs typeface="Arial"/>
              </a:rPr>
              <a:t>Core </a:t>
            </a:r>
            <a:r>
              <a:rPr lang="en-US" sz="3300" b="1" dirty="0">
                <a:solidFill>
                  <a:srgbClr val="183C33"/>
                </a:solidFill>
                <a:latin typeface="Arial"/>
                <a:ea typeface="Arial"/>
                <a:cs typeface="Arial"/>
              </a:rPr>
              <a:t>features &amp; </a:t>
            </a:r>
            <a:r>
              <a:rPr sz="3300" b="1" dirty="0">
                <a:solidFill>
                  <a:srgbClr val="183C33"/>
                </a:solidFill>
                <a:latin typeface="Arial"/>
                <a:ea typeface="Arial"/>
                <a:cs typeface="Arial"/>
              </a:rPr>
              <a:t>functionality</a:t>
            </a:r>
          </a:p>
        </p:txBody>
      </p:sp>
      <p:sp>
        <p:nvSpPr>
          <p:cNvPr id="2" name="Rectangle 1">
            <a:extLst>
              <a:ext uri="{FF2B5EF4-FFF2-40B4-BE49-F238E27FC236}">
                <a16:creationId xmlns:a16="http://schemas.microsoft.com/office/drawing/2014/main" id="{3A331E57-5094-4157-BA10-190C0319B9BE}"/>
              </a:ext>
            </a:extLst>
          </p:cNvPr>
          <p:cNvSpPr>
            <a:spLocks noGrp="1"/>
          </p:cNvSpPr>
          <p:nvPr/>
        </p:nvSpPr>
        <p:spPr>
          <a:xfrm>
            <a:off x="11049000" y="6305550"/>
            <a:ext cx="523875" cy="228600"/>
          </a:xfrm>
          <a:prstGeom prst="rect">
            <a:avLst/>
          </a:prstGeom>
          <a:noFill/>
          <a:ln w="0">
            <a:noFill/>
          </a:ln>
        </p:spPr>
        <p:txBody>
          <a:bodyPr/>
          <a:lstStyle>
            <a:defPPr>
              <a:defRPr sz="1275" b="0">
                <a:solidFill>
                  <a:srgbClr val="6B8078"/>
                </a:solidFill>
                <a:latin typeface="Arial"/>
                <a:ea typeface="Arial"/>
                <a:cs typeface="Arial"/>
              </a:defRPr>
            </a:defPPr>
          </a:lstStyle>
          <a:p>
            <a:pPr>
              <a:defRPr sz="1275" b="0">
                <a:solidFill>
                  <a:srgbClr val="6B8078"/>
                </a:solidFill>
                <a:latin typeface="Arial"/>
                <a:ea typeface="Arial"/>
                <a:cs typeface="Arial"/>
              </a:defRPr>
            </a:pPr>
            <a:r>
              <a:rPr sz="1275" b="0">
                <a:solidFill>
                  <a:srgbClr val="6B8078"/>
                </a:solidFill>
                <a:latin typeface="Arial"/>
                <a:ea typeface="Arial"/>
                <a:cs typeface="Arial"/>
              </a:rPr>
              <a:t>04</a:t>
            </a:r>
          </a:p>
        </p:txBody>
      </p:sp>
      <p:sp>
        <p:nvSpPr>
          <p:cNvPr id="5" name="Rectangle 4">
            <a:extLst>
              <a:ext uri="{FF2B5EF4-FFF2-40B4-BE49-F238E27FC236}">
                <a16:creationId xmlns:a16="http://schemas.microsoft.com/office/drawing/2014/main" id="{0004B756-50F7-4866-BEC2-E94A099EB1C5}"/>
              </a:ext>
            </a:extLst>
          </p:cNvPr>
          <p:cNvSpPr>
            <a:spLocks noGrp="1"/>
          </p:cNvSpPr>
          <p:nvPr/>
        </p:nvSpPr>
        <p:spPr>
          <a:xfrm>
            <a:off x="5381625" y="1628775"/>
            <a:ext cx="6076950" cy="857250"/>
          </a:xfrm>
          <a:prstGeom prst="rect">
            <a:avLst/>
          </a:prstGeom>
          <a:noFill/>
          <a:ln w="0">
            <a:noFill/>
          </a:ln>
        </p:spPr>
        <p:txBody>
          <a:bodyPr/>
          <a:lstStyle>
            <a:defPPr>
              <a:defRPr sz="1875" b="0">
                <a:solidFill>
                  <a:srgbClr val="405B53"/>
                </a:solidFill>
                <a:latin typeface="Arial"/>
                <a:ea typeface="Arial"/>
                <a:cs typeface="Arial"/>
              </a:defRPr>
            </a:defPPr>
          </a:lstStyle>
          <a:p>
            <a:pPr>
              <a:defRPr sz="1875" b="0">
                <a:solidFill>
                  <a:srgbClr val="405B53"/>
                </a:solidFill>
                <a:latin typeface="Arial"/>
                <a:ea typeface="Arial"/>
                <a:cs typeface="Arial"/>
              </a:defRPr>
            </a:pPr>
            <a:r>
              <a:rPr sz="1875" b="0">
                <a:solidFill>
                  <a:srgbClr val="405B53"/>
                </a:solidFill>
                <a:latin typeface="Arial"/>
                <a:ea typeface="Arial"/>
                <a:cs typeface="Arial"/>
              </a:rPr>
              <a:t>Website and Chrome extension support the three verification methods.</a:t>
            </a:r>
          </a:p>
        </p:txBody>
      </p:sp>
      <p:sp>
        <p:nvSpPr>
          <p:cNvPr id="8" name="Rectangle 7">
            <a:extLst>
              <a:ext uri="{FF2B5EF4-FFF2-40B4-BE49-F238E27FC236}">
                <a16:creationId xmlns:a16="http://schemas.microsoft.com/office/drawing/2014/main" id="{7A9B64D2-C392-4D88-9E65-EED12B38A03F}"/>
              </a:ext>
            </a:extLst>
          </p:cNvPr>
          <p:cNvSpPr>
            <a:spLocks noGrp="1"/>
          </p:cNvSpPr>
          <p:nvPr/>
        </p:nvSpPr>
        <p:spPr>
          <a:xfrm>
            <a:off x="5381625" y="2743200"/>
            <a:ext cx="6076950" cy="857250"/>
          </a:xfrm>
          <a:prstGeom prst="rect">
            <a:avLst/>
          </a:prstGeom>
          <a:noFill/>
          <a:ln w="0">
            <a:noFill/>
          </a:ln>
        </p:spPr>
        <p:txBody>
          <a:bodyPr/>
          <a:lstStyle>
            <a:defPPr>
              <a:defRPr sz="1875" b="0">
                <a:solidFill>
                  <a:srgbClr val="405B53"/>
                </a:solidFill>
                <a:latin typeface="Arial"/>
                <a:ea typeface="Arial"/>
                <a:cs typeface="Arial"/>
              </a:defRPr>
            </a:defPPr>
          </a:lstStyle>
          <a:p>
            <a:pPr>
              <a:defRPr sz="1875" b="0">
                <a:solidFill>
                  <a:srgbClr val="405B53"/>
                </a:solidFill>
                <a:latin typeface="Arial"/>
                <a:ea typeface="Arial"/>
                <a:cs typeface="Arial"/>
              </a:defRPr>
            </a:pPr>
            <a:r>
              <a:rPr sz="1875" b="0">
                <a:solidFill>
                  <a:srgbClr val="405B53"/>
                </a:solidFill>
                <a:latin typeface="Arial"/>
                <a:ea typeface="Arial"/>
                <a:cs typeface="Arial"/>
              </a:rPr>
              <a:t>Detailed reports, Fact Explorer, account submissions and personal result notifications.</a:t>
            </a:r>
          </a:p>
        </p:txBody>
      </p:sp>
      <p:sp>
        <p:nvSpPr>
          <p:cNvPr id="11" name="Rectangle 10">
            <a:extLst>
              <a:ext uri="{FF2B5EF4-FFF2-40B4-BE49-F238E27FC236}">
                <a16:creationId xmlns:a16="http://schemas.microsoft.com/office/drawing/2014/main" id="{50EFC21F-AC9E-4BEB-84AC-BB3BCB6CED3A}"/>
              </a:ext>
            </a:extLst>
          </p:cNvPr>
          <p:cNvSpPr>
            <a:spLocks noGrp="1"/>
          </p:cNvSpPr>
          <p:nvPr/>
        </p:nvSpPr>
        <p:spPr>
          <a:xfrm>
            <a:off x="5381625" y="3857625"/>
            <a:ext cx="6076950" cy="857250"/>
          </a:xfrm>
          <a:prstGeom prst="rect">
            <a:avLst/>
          </a:prstGeom>
          <a:noFill/>
          <a:ln w="0">
            <a:noFill/>
          </a:ln>
        </p:spPr>
        <p:txBody>
          <a:bodyPr/>
          <a:lstStyle>
            <a:defPPr>
              <a:defRPr sz="1875" b="0">
                <a:solidFill>
                  <a:srgbClr val="405B53"/>
                </a:solidFill>
                <a:latin typeface="Arial"/>
                <a:ea typeface="Arial"/>
                <a:cs typeface="Arial"/>
              </a:defRPr>
            </a:defPPr>
          </a:lstStyle>
          <a:p>
            <a:pPr>
              <a:defRPr sz="1875" b="0">
                <a:solidFill>
                  <a:srgbClr val="405B53"/>
                </a:solidFill>
                <a:latin typeface="Arial"/>
                <a:ea typeface="Arial"/>
                <a:cs typeface="Arial"/>
              </a:defRPr>
            </a:pPr>
            <a:r>
              <a:rPr sz="1875" b="0">
                <a:solidFill>
                  <a:srgbClr val="405B53"/>
                </a:solidFill>
                <a:latin typeface="Arial"/>
                <a:ea typeface="Arial"/>
                <a:cs typeface="Arial"/>
              </a:rPr>
              <a:t>Experts inspect evidence, explain their decisions and vote on submitted claims.</a:t>
            </a:r>
          </a:p>
        </p:txBody>
      </p:sp>
      <p:sp>
        <p:nvSpPr>
          <p:cNvPr id="14" name="Rectangle 13">
            <a:extLst>
              <a:ext uri="{FF2B5EF4-FFF2-40B4-BE49-F238E27FC236}">
                <a16:creationId xmlns:a16="http://schemas.microsoft.com/office/drawing/2014/main" id="{35012CC7-7CF6-4141-BCA0-6AC8C5EC5528}"/>
              </a:ext>
            </a:extLst>
          </p:cNvPr>
          <p:cNvSpPr>
            <a:spLocks noGrp="1"/>
          </p:cNvSpPr>
          <p:nvPr/>
        </p:nvSpPr>
        <p:spPr>
          <a:xfrm>
            <a:off x="5381625" y="4972050"/>
            <a:ext cx="6076950" cy="857250"/>
          </a:xfrm>
          <a:prstGeom prst="rect">
            <a:avLst/>
          </a:prstGeom>
          <a:noFill/>
          <a:ln w="0">
            <a:noFill/>
          </a:ln>
        </p:spPr>
        <p:txBody>
          <a:bodyPr/>
          <a:lstStyle>
            <a:defPPr>
              <a:defRPr sz="1875" b="0">
                <a:solidFill>
                  <a:srgbClr val="405B53"/>
                </a:solidFill>
                <a:latin typeface="Arial"/>
                <a:ea typeface="Arial"/>
                <a:cs typeface="Arial"/>
              </a:defRPr>
            </a:defPPr>
          </a:lstStyle>
          <a:p>
            <a:pPr>
              <a:defRPr sz="1875" b="0">
                <a:solidFill>
                  <a:srgbClr val="405B53"/>
                </a:solidFill>
                <a:latin typeface="Arial"/>
                <a:ea typeface="Arial"/>
                <a:cs typeface="Arial"/>
              </a:defRPr>
            </a:pPr>
            <a:r>
              <a:rPr sz="1875" b="0">
                <a:solidFill>
                  <a:srgbClr val="405B53"/>
                </a:solidFill>
                <a:latin typeface="Arial"/>
                <a:ea typeface="Arial"/>
                <a:cs typeface="Arial"/>
              </a:rPr>
              <a:t>Admins manage experts, registered sources, voting rules and escalated decisions.</a:t>
            </a:r>
          </a:p>
        </p:txBody>
      </p:sp>
      <p:sp>
        <p:nvSpPr>
          <p:cNvPr id="16" name="TextBox 15">
            <a:extLst>
              <a:ext uri="{FF2B5EF4-FFF2-40B4-BE49-F238E27FC236}">
                <a16:creationId xmlns:a16="http://schemas.microsoft.com/office/drawing/2014/main" id="{C628E3BA-6EE3-3458-AAF0-053E0E35AFBB}"/>
              </a:ext>
            </a:extLst>
          </p:cNvPr>
          <p:cNvSpPr txBox="1"/>
          <p:nvPr/>
        </p:nvSpPr>
        <p:spPr>
          <a:xfrm>
            <a:off x="609600" y="1698171"/>
            <a:ext cx="4345577" cy="3416320"/>
          </a:xfrm>
          <a:prstGeom prst="rect">
            <a:avLst/>
          </a:prstGeom>
          <a:noFill/>
        </p:spPr>
        <p:txBody>
          <a:bodyPr wrap="square" rtlCol="0">
            <a:spAutoFit/>
          </a:bodyPr>
          <a:lstStyle/>
          <a:p>
            <a:pPr marL="285750" indent="-285750">
              <a:buFontTx/>
              <a:buChar char="-"/>
            </a:pPr>
            <a:r>
              <a:rPr lang="en-US" dirty="0"/>
              <a:t>Website</a:t>
            </a:r>
          </a:p>
          <a:p>
            <a:pPr marL="285750" indent="-285750">
              <a:buFontTx/>
              <a:buChar char="-"/>
            </a:pPr>
            <a:r>
              <a:rPr lang="en-US" dirty="0"/>
              <a:t>Chrome browser extension</a:t>
            </a:r>
          </a:p>
          <a:p>
            <a:pPr marL="285750" indent="-285750">
              <a:buFontTx/>
              <a:buChar char="-"/>
            </a:pPr>
            <a:r>
              <a:rPr lang="en-US" dirty="0"/>
              <a:t>Multimodal analysis</a:t>
            </a:r>
          </a:p>
          <a:p>
            <a:pPr marL="285750" indent="-285750">
              <a:buFontTx/>
              <a:buChar char="-"/>
            </a:pPr>
            <a:r>
              <a:rPr lang="en-US" dirty="0"/>
              <a:t>Photocard verification from available source data</a:t>
            </a:r>
          </a:p>
          <a:p>
            <a:pPr marL="285750" indent="-285750">
              <a:buFontTx/>
              <a:buChar char="-"/>
            </a:pPr>
            <a:r>
              <a:rPr lang="en-US" dirty="0"/>
              <a:t>Text verification from available source evidence</a:t>
            </a:r>
          </a:p>
          <a:p>
            <a:pPr marL="285750" indent="-285750">
              <a:buFontTx/>
              <a:buChar char="-"/>
            </a:pPr>
            <a:r>
              <a:rPr lang="en-US" dirty="0"/>
              <a:t>Expert voting mechanism &amp; Escalation handling</a:t>
            </a:r>
          </a:p>
          <a:p>
            <a:pPr marL="285750" indent="-285750">
              <a:buFontTx/>
              <a:buChar char="-"/>
            </a:pPr>
            <a:r>
              <a:rPr lang="en-US" dirty="0"/>
              <a:t>Fact explorer</a:t>
            </a:r>
          </a:p>
          <a:p>
            <a:pPr marL="285750" indent="-285750">
              <a:buFontTx/>
              <a:buChar char="-"/>
            </a:pPr>
            <a:r>
              <a:rPr lang="en-US" dirty="0"/>
              <a:t>Notifications management</a:t>
            </a:r>
          </a:p>
          <a:p>
            <a:pPr marL="285750" indent="-285750">
              <a:buFontTx/>
              <a:buChar char="-"/>
            </a:pPr>
            <a:r>
              <a:rPr lang="en-US" dirty="0"/>
              <a:t>System Administration</a:t>
            </a:r>
          </a:p>
        </p:txBody>
      </p:sp>
    </p:spTree>
    <p:extLst>
      <p:ext uri="{BB962C8B-B14F-4D97-AF65-F5344CB8AC3E}">
        <p14:creationId xmlns:p14="http://schemas.microsoft.com/office/powerpoint/2010/main" val="1131545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704C1FB-67EA-4C62-B4A6-44E2A0926183}"/>
              </a:ext>
            </a:extLst>
          </p:cNvPr>
          <p:cNvSpPr>
            <a:spLocks noGrp="1"/>
          </p:cNvSpPr>
          <p:nvPr/>
        </p:nvSpPr>
        <p:spPr>
          <a:xfrm>
            <a:off x="609600" y="428625"/>
            <a:ext cx="10972800" cy="742950"/>
          </a:xfrm>
          <a:prstGeom prst="rect">
            <a:avLst/>
          </a:prstGeom>
          <a:noFill/>
          <a:ln w="0">
            <a:noFill/>
          </a:ln>
        </p:spPr>
        <p:txBody>
          <a:bodyPr/>
          <a:lstStyle>
            <a:defPPr>
              <a:defRPr sz="3300" b="1">
                <a:solidFill>
                  <a:srgbClr val="183C33"/>
                </a:solidFill>
                <a:latin typeface="Arial"/>
                <a:ea typeface="Arial"/>
                <a:cs typeface="Arial"/>
              </a:defRPr>
            </a:defPPr>
          </a:lstStyle>
          <a:p>
            <a:pPr>
              <a:defRPr sz="3300" b="1">
                <a:solidFill>
                  <a:srgbClr val="183C33"/>
                </a:solidFill>
                <a:latin typeface="Arial"/>
                <a:ea typeface="Arial"/>
                <a:cs typeface="Arial"/>
              </a:defRPr>
            </a:pPr>
            <a:r>
              <a:rPr sz="3300" b="1">
                <a:solidFill>
                  <a:srgbClr val="183C33"/>
                </a:solidFill>
                <a:latin typeface="Arial"/>
                <a:ea typeface="Arial"/>
                <a:cs typeface="Arial"/>
              </a:rPr>
              <a:t>System overview</a:t>
            </a:r>
          </a:p>
        </p:txBody>
      </p:sp>
      <p:sp>
        <p:nvSpPr>
          <p:cNvPr id="2" name="Rectangle 1">
            <a:extLst>
              <a:ext uri="{FF2B5EF4-FFF2-40B4-BE49-F238E27FC236}">
                <a16:creationId xmlns:a16="http://schemas.microsoft.com/office/drawing/2014/main" id="{2237E7A9-D846-4196-898D-5F6ADE173FAD}"/>
              </a:ext>
            </a:extLst>
          </p:cNvPr>
          <p:cNvSpPr>
            <a:spLocks noGrp="1"/>
          </p:cNvSpPr>
          <p:nvPr/>
        </p:nvSpPr>
        <p:spPr>
          <a:xfrm>
            <a:off x="11049000" y="6305550"/>
            <a:ext cx="523875" cy="228600"/>
          </a:xfrm>
          <a:prstGeom prst="rect">
            <a:avLst/>
          </a:prstGeom>
          <a:noFill/>
          <a:ln w="0">
            <a:noFill/>
          </a:ln>
        </p:spPr>
        <p:txBody>
          <a:bodyPr/>
          <a:lstStyle>
            <a:defPPr>
              <a:defRPr sz="1275" b="0">
                <a:solidFill>
                  <a:srgbClr val="6B8078"/>
                </a:solidFill>
                <a:latin typeface="Arial"/>
                <a:ea typeface="Arial"/>
                <a:cs typeface="Arial"/>
              </a:defRPr>
            </a:defPPr>
          </a:lstStyle>
          <a:p>
            <a:pPr>
              <a:defRPr sz="1275" b="0">
                <a:solidFill>
                  <a:srgbClr val="6B8078"/>
                </a:solidFill>
                <a:latin typeface="Arial"/>
                <a:ea typeface="Arial"/>
                <a:cs typeface="Arial"/>
              </a:defRPr>
            </a:pPr>
            <a:r>
              <a:rPr sz="1275" b="0">
                <a:solidFill>
                  <a:srgbClr val="6B8078"/>
                </a:solidFill>
                <a:latin typeface="Arial"/>
                <a:ea typeface="Arial"/>
                <a:cs typeface="Arial"/>
              </a:rPr>
              <a:t>05</a:t>
            </a:r>
          </a:p>
        </p:txBody>
      </p:sp>
      <p:pic>
        <p:nvPicPr>
          <p:cNvPr id="17" name="Picture 16">
            <a:extLst>
              <a:ext uri="{FF2B5EF4-FFF2-40B4-BE49-F238E27FC236}">
                <a16:creationId xmlns:a16="http://schemas.microsoft.com/office/drawing/2014/main" id="{A7B17674-B0D9-4336-AFA4-9BB20494DE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0644" y="1313497"/>
            <a:ext cx="7824267" cy="4850130"/>
          </a:xfrm>
          <a:prstGeom prst="rect">
            <a:avLst/>
          </a:prstGeom>
        </p:spPr>
      </p:pic>
      <p:sp>
        <p:nvSpPr>
          <p:cNvPr id="18" name="TextBox 17">
            <a:extLst>
              <a:ext uri="{FF2B5EF4-FFF2-40B4-BE49-F238E27FC236}">
                <a16:creationId xmlns:a16="http://schemas.microsoft.com/office/drawing/2014/main" id="{DC615478-5351-0B7A-2AE6-64022DFC94FA}"/>
              </a:ext>
            </a:extLst>
          </p:cNvPr>
          <p:cNvSpPr txBox="1"/>
          <p:nvPr/>
        </p:nvSpPr>
        <p:spPr>
          <a:xfrm>
            <a:off x="792479" y="2420983"/>
            <a:ext cx="2142309" cy="1477328"/>
          </a:xfrm>
          <a:prstGeom prst="rect">
            <a:avLst/>
          </a:prstGeom>
          <a:noFill/>
        </p:spPr>
        <p:txBody>
          <a:bodyPr wrap="square" rtlCol="0">
            <a:spAutoFit/>
          </a:bodyPr>
          <a:lstStyle/>
          <a:p>
            <a:r>
              <a:rPr lang="en-US" dirty="0"/>
              <a:t>4 types of User</a:t>
            </a:r>
          </a:p>
          <a:p>
            <a:r>
              <a:rPr lang="en-US" dirty="0"/>
              <a:t>-Guest user</a:t>
            </a:r>
          </a:p>
          <a:p>
            <a:r>
              <a:rPr lang="en-US" dirty="0"/>
              <a:t>-Registered user</a:t>
            </a:r>
          </a:p>
          <a:p>
            <a:r>
              <a:rPr lang="en-US" dirty="0"/>
              <a:t>-Expert</a:t>
            </a:r>
          </a:p>
          <a:p>
            <a:r>
              <a:rPr lang="en-US" dirty="0"/>
              <a:t>-Admin</a:t>
            </a:r>
          </a:p>
        </p:txBody>
      </p:sp>
    </p:spTree>
    <p:extLst>
      <p:ext uri="{BB962C8B-B14F-4D97-AF65-F5344CB8AC3E}">
        <p14:creationId xmlns:p14="http://schemas.microsoft.com/office/powerpoint/2010/main" val="301984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7947051-CAA3-4AED-B373-4199859CA862}"/>
              </a:ext>
            </a:extLst>
          </p:cNvPr>
          <p:cNvSpPr>
            <a:spLocks noGrp="1"/>
          </p:cNvSpPr>
          <p:nvPr/>
        </p:nvSpPr>
        <p:spPr>
          <a:xfrm>
            <a:off x="609600" y="428625"/>
            <a:ext cx="10972800" cy="742950"/>
          </a:xfrm>
          <a:prstGeom prst="rect">
            <a:avLst/>
          </a:prstGeom>
          <a:noFill/>
          <a:ln w="0">
            <a:noFill/>
          </a:ln>
        </p:spPr>
        <p:txBody>
          <a:bodyPr/>
          <a:lstStyle>
            <a:defPPr>
              <a:defRPr sz="3300" b="1">
                <a:solidFill>
                  <a:srgbClr val="183C33"/>
                </a:solidFill>
                <a:latin typeface="Arial"/>
                <a:ea typeface="Arial"/>
                <a:cs typeface="Arial"/>
              </a:defRPr>
            </a:defPPr>
          </a:lstStyle>
          <a:p>
            <a:pPr>
              <a:defRPr sz="3300" b="1">
                <a:solidFill>
                  <a:srgbClr val="183C33"/>
                </a:solidFill>
                <a:latin typeface="Arial"/>
                <a:ea typeface="Arial"/>
                <a:cs typeface="Arial"/>
              </a:defRPr>
            </a:pPr>
            <a:r>
              <a:rPr lang="en-US" sz="3300" b="1" dirty="0">
                <a:solidFill>
                  <a:srgbClr val="183C33"/>
                </a:solidFill>
                <a:latin typeface="Arial"/>
                <a:ea typeface="Arial"/>
                <a:cs typeface="Arial"/>
              </a:rPr>
              <a:t>V</a:t>
            </a:r>
            <a:r>
              <a:rPr sz="3300" b="1" dirty="0">
                <a:solidFill>
                  <a:srgbClr val="183C33"/>
                </a:solidFill>
                <a:latin typeface="Arial"/>
                <a:ea typeface="Arial"/>
                <a:cs typeface="Arial"/>
              </a:rPr>
              <a:t>erification pipeline</a:t>
            </a:r>
          </a:p>
        </p:txBody>
      </p:sp>
      <p:sp>
        <p:nvSpPr>
          <p:cNvPr id="2" name="Rectangle 1">
            <a:extLst>
              <a:ext uri="{FF2B5EF4-FFF2-40B4-BE49-F238E27FC236}">
                <a16:creationId xmlns:a16="http://schemas.microsoft.com/office/drawing/2014/main" id="{F6431F21-295A-4887-BFE3-DC575DDC34FE}"/>
              </a:ext>
            </a:extLst>
          </p:cNvPr>
          <p:cNvSpPr>
            <a:spLocks noGrp="1"/>
          </p:cNvSpPr>
          <p:nvPr/>
        </p:nvSpPr>
        <p:spPr>
          <a:xfrm>
            <a:off x="11049000" y="6305550"/>
            <a:ext cx="523875" cy="228600"/>
          </a:xfrm>
          <a:prstGeom prst="rect">
            <a:avLst/>
          </a:prstGeom>
          <a:noFill/>
          <a:ln w="0">
            <a:noFill/>
          </a:ln>
        </p:spPr>
        <p:txBody>
          <a:bodyPr/>
          <a:lstStyle>
            <a:defPPr>
              <a:defRPr sz="1275" b="0">
                <a:solidFill>
                  <a:srgbClr val="6B8078"/>
                </a:solidFill>
                <a:latin typeface="Arial"/>
                <a:ea typeface="Arial"/>
                <a:cs typeface="Arial"/>
              </a:defRPr>
            </a:defPPr>
          </a:lstStyle>
          <a:p>
            <a:pPr>
              <a:defRPr sz="1275" b="0">
                <a:solidFill>
                  <a:srgbClr val="6B8078"/>
                </a:solidFill>
                <a:latin typeface="Arial"/>
                <a:ea typeface="Arial"/>
                <a:cs typeface="Arial"/>
              </a:defRPr>
            </a:pPr>
            <a:r>
              <a:rPr sz="1275" b="0">
                <a:solidFill>
                  <a:srgbClr val="6B8078"/>
                </a:solidFill>
                <a:latin typeface="Arial"/>
                <a:ea typeface="Arial"/>
                <a:cs typeface="Arial"/>
              </a:rPr>
              <a:t>06</a:t>
            </a:r>
          </a:p>
        </p:txBody>
      </p:sp>
      <p:pic>
        <p:nvPicPr>
          <p:cNvPr id="17" name="Picture 16">
            <a:extLst>
              <a:ext uri="{FF2B5EF4-FFF2-40B4-BE49-F238E27FC236}">
                <a16:creationId xmlns:a16="http://schemas.microsoft.com/office/drawing/2014/main" id="{99E3091D-0992-3C7C-FAB7-B50630F692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5851" y="1171575"/>
            <a:ext cx="6492861" cy="5491240"/>
          </a:xfrm>
          <a:prstGeom prst="rect">
            <a:avLst/>
          </a:prstGeom>
        </p:spPr>
      </p:pic>
    </p:spTree>
    <p:extLst>
      <p:ext uri="{BB962C8B-B14F-4D97-AF65-F5344CB8AC3E}">
        <p14:creationId xmlns:p14="http://schemas.microsoft.com/office/powerpoint/2010/main" val="1777848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40087F2-EEC6-4B0A-97DD-04379FF92082}"/>
              </a:ext>
            </a:extLst>
          </p:cNvPr>
          <p:cNvSpPr>
            <a:spLocks noGrp="1"/>
          </p:cNvSpPr>
          <p:nvPr/>
        </p:nvSpPr>
        <p:spPr>
          <a:xfrm>
            <a:off x="609600" y="428625"/>
            <a:ext cx="10972800" cy="742950"/>
          </a:xfrm>
          <a:prstGeom prst="rect">
            <a:avLst/>
          </a:prstGeom>
          <a:noFill/>
          <a:ln w="0">
            <a:noFill/>
          </a:ln>
        </p:spPr>
        <p:txBody>
          <a:bodyPr/>
          <a:lstStyle>
            <a:defPPr>
              <a:defRPr sz="3300" b="1">
                <a:solidFill>
                  <a:srgbClr val="183C33"/>
                </a:solidFill>
                <a:latin typeface="Arial"/>
                <a:ea typeface="Arial"/>
                <a:cs typeface="Arial"/>
              </a:defRPr>
            </a:defPPr>
          </a:lstStyle>
          <a:p>
            <a:pPr>
              <a:defRPr sz="3300" b="1">
                <a:solidFill>
                  <a:srgbClr val="183C33"/>
                </a:solidFill>
                <a:latin typeface="Arial"/>
                <a:ea typeface="Arial"/>
                <a:cs typeface="Arial"/>
              </a:defRPr>
            </a:pPr>
            <a:r>
              <a:rPr sz="3300" b="1" dirty="0">
                <a:solidFill>
                  <a:srgbClr val="183C33"/>
                </a:solidFill>
                <a:latin typeface="Arial"/>
                <a:ea typeface="Arial"/>
                <a:cs typeface="Arial"/>
              </a:rPr>
              <a:t>Multimodal </a:t>
            </a:r>
            <a:r>
              <a:rPr lang="en-US" sz="3300" b="1" dirty="0">
                <a:solidFill>
                  <a:srgbClr val="183C33"/>
                </a:solidFill>
                <a:latin typeface="Arial"/>
                <a:ea typeface="Arial"/>
                <a:cs typeface="Arial"/>
              </a:rPr>
              <a:t>analysis</a:t>
            </a:r>
            <a:endParaRPr sz="3300" b="1" dirty="0">
              <a:solidFill>
                <a:srgbClr val="183C33"/>
              </a:solidFill>
              <a:latin typeface="Arial"/>
              <a:ea typeface="Arial"/>
              <a:cs typeface="Arial"/>
            </a:endParaRPr>
          </a:p>
        </p:txBody>
      </p:sp>
      <p:sp>
        <p:nvSpPr>
          <p:cNvPr id="2" name="Rectangle 1">
            <a:extLst>
              <a:ext uri="{FF2B5EF4-FFF2-40B4-BE49-F238E27FC236}">
                <a16:creationId xmlns:a16="http://schemas.microsoft.com/office/drawing/2014/main" id="{0CAC59CC-1300-45C9-8DA5-91BDB2F25DAD}"/>
              </a:ext>
            </a:extLst>
          </p:cNvPr>
          <p:cNvSpPr>
            <a:spLocks noGrp="1"/>
          </p:cNvSpPr>
          <p:nvPr/>
        </p:nvSpPr>
        <p:spPr>
          <a:xfrm>
            <a:off x="11049000" y="6305550"/>
            <a:ext cx="523875" cy="228600"/>
          </a:xfrm>
          <a:prstGeom prst="rect">
            <a:avLst/>
          </a:prstGeom>
          <a:noFill/>
          <a:ln w="0">
            <a:noFill/>
          </a:ln>
        </p:spPr>
        <p:txBody>
          <a:bodyPr/>
          <a:lstStyle>
            <a:defPPr>
              <a:defRPr sz="1275" b="0">
                <a:solidFill>
                  <a:srgbClr val="6B8078"/>
                </a:solidFill>
                <a:latin typeface="Arial"/>
                <a:ea typeface="Arial"/>
                <a:cs typeface="Arial"/>
              </a:defRPr>
            </a:defPPr>
          </a:lstStyle>
          <a:p>
            <a:pPr>
              <a:defRPr sz="1275" b="0">
                <a:solidFill>
                  <a:srgbClr val="6B8078"/>
                </a:solidFill>
                <a:latin typeface="Arial"/>
                <a:ea typeface="Arial"/>
                <a:cs typeface="Arial"/>
              </a:defRPr>
            </a:pPr>
            <a:r>
              <a:rPr sz="1275" b="0">
                <a:solidFill>
                  <a:srgbClr val="6B8078"/>
                </a:solidFill>
                <a:latin typeface="Arial"/>
                <a:ea typeface="Arial"/>
                <a:cs typeface="Arial"/>
              </a:rPr>
              <a:t>07</a:t>
            </a:r>
          </a:p>
        </p:txBody>
      </p:sp>
      <p:pic>
        <p:nvPicPr>
          <p:cNvPr id="3" name="Picture 2">
            <a:extLst>
              <a:ext uri="{FF2B5EF4-FFF2-40B4-BE49-F238E27FC236}">
                <a16:creationId xmlns:a16="http://schemas.microsoft.com/office/drawing/2014/main" id="{1E48B7C4-DCBE-43B5-9C17-5E8006BFCCCA}"/>
              </a:ext>
            </a:extLst>
          </p:cNvPr>
          <p:cNvPicPr>
            <a:picLocks noChangeAspect="1"/>
          </p:cNvPicPr>
          <p:nvPr/>
        </p:nvPicPr>
        <p:blipFill>
          <a:blip r:embed="rId3"/>
          <a:stretch/>
        </p:blipFill>
        <p:spPr>
          <a:xfrm>
            <a:off x="2242369" y="1511753"/>
            <a:ext cx="7228836" cy="3476625"/>
          </a:xfrm>
          <a:prstGeom prst="rect">
            <a:avLst/>
          </a:prstGeom>
        </p:spPr>
      </p:pic>
    </p:spTree>
    <p:extLst>
      <p:ext uri="{BB962C8B-B14F-4D97-AF65-F5344CB8AC3E}">
        <p14:creationId xmlns:p14="http://schemas.microsoft.com/office/powerpoint/2010/main" val="28349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AE04DB7-9939-46D3-9117-C1B31ADADCE1}"/>
              </a:ext>
            </a:extLst>
          </p:cNvPr>
          <p:cNvSpPr>
            <a:spLocks noGrp="1"/>
          </p:cNvSpPr>
          <p:nvPr/>
        </p:nvSpPr>
        <p:spPr>
          <a:xfrm>
            <a:off x="609600" y="428625"/>
            <a:ext cx="10972800" cy="742950"/>
          </a:xfrm>
          <a:prstGeom prst="rect">
            <a:avLst/>
          </a:prstGeom>
          <a:noFill/>
          <a:ln w="0">
            <a:noFill/>
          </a:ln>
        </p:spPr>
        <p:txBody>
          <a:bodyPr/>
          <a:lstStyle>
            <a:defPPr>
              <a:defRPr sz="3300" b="1">
                <a:solidFill>
                  <a:srgbClr val="183C33"/>
                </a:solidFill>
                <a:latin typeface="Arial"/>
                <a:ea typeface="Arial"/>
                <a:cs typeface="Arial"/>
              </a:defRPr>
            </a:defPPr>
          </a:lstStyle>
          <a:p>
            <a:pPr>
              <a:defRPr sz="3300" b="1">
                <a:solidFill>
                  <a:srgbClr val="183C33"/>
                </a:solidFill>
                <a:latin typeface="Arial"/>
                <a:ea typeface="Arial"/>
                <a:cs typeface="Arial"/>
              </a:defRPr>
            </a:pPr>
            <a:r>
              <a:rPr sz="3300" b="1">
                <a:solidFill>
                  <a:srgbClr val="183C33"/>
                </a:solidFill>
                <a:latin typeface="Arial"/>
                <a:ea typeface="Arial"/>
                <a:cs typeface="Arial"/>
              </a:rPr>
              <a:t>Expert review and final decisions</a:t>
            </a:r>
          </a:p>
        </p:txBody>
      </p:sp>
      <p:sp>
        <p:nvSpPr>
          <p:cNvPr id="2" name="Rectangle 1">
            <a:extLst>
              <a:ext uri="{FF2B5EF4-FFF2-40B4-BE49-F238E27FC236}">
                <a16:creationId xmlns:a16="http://schemas.microsoft.com/office/drawing/2014/main" id="{8BFA4570-D29B-4AE6-BBBC-4EC9561A4F94}"/>
              </a:ext>
            </a:extLst>
          </p:cNvPr>
          <p:cNvSpPr>
            <a:spLocks noGrp="1"/>
          </p:cNvSpPr>
          <p:nvPr/>
        </p:nvSpPr>
        <p:spPr>
          <a:xfrm>
            <a:off x="11049000" y="6305550"/>
            <a:ext cx="523875" cy="228600"/>
          </a:xfrm>
          <a:prstGeom prst="rect">
            <a:avLst/>
          </a:prstGeom>
          <a:noFill/>
          <a:ln w="0">
            <a:noFill/>
          </a:ln>
        </p:spPr>
        <p:txBody>
          <a:bodyPr/>
          <a:lstStyle>
            <a:defPPr>
              <a:defRPr sz="1275" b="0">
                <a:solidFill>
                  <a:srgbClr val="6B8078"/>
                </a:solidFill>
                <a:latin typeface="Arial"/>
                <a:ea typeface="Arial"/>
                <a:cs typeface="Arial"/>
              </a:defRPr>
            </a:defPPr>
          </a:lstStyle>
          <a:p>
            <a:pPr>
              <a:defRPr sz="1275" b="0">
                <a:solidFill>
                  <a:srgbClr val="6B8078"/>
                </a:solidFill>
                <a:latin typeface="Arial"/>
                <a:ea typeface="Arial"/>
                <a:cs typeface="Arial"/>
              </a:defRPr>
            </a:pPr>
            <a:r>
              <a:rPr sz="1275" b="0" dirty="0">
                <a:solidFill>
                  <a:srgbClr val="6B8078"/>
                </a:solidFill>
                <a:latin typeface="Arial"/>
                <a:ea typeface="Arial"/>
                <a:cs typeface="Arial"/>
              </a:rPr>
              <a:t>0</a:t>
            </a:r>
            <a:r>
              <a:rPr lang="en-US" sz="1275" b="0" dirty="0">
                <a:solidFill>
                  <a:srgbClr val="6B8078"/>
                </a:solidFill>
                <a:latin typeface="Arial"/>
                <a:ea typeface="Arial"/>
                <a:cs typeface="Arial"/>
              </a:rPr>
              <a:t>8</a:t>
            </a:r>
            <a:endParaRPr sz="1275" b="0" dirty="0">
              <a:solidFill>
                <a:srgbClr val="6B8078"/>
              </a:solidFill>
              <a:latin typeface="Arial"/>
              <a:ea typeface="Arial"/>
              <a:cs typeface="Arial"/>
            </a:endParaRPr>
          </a:p>
        </p:txBody>
      </p:sp>
      <p:sp>
        <p:nvSpPr>
          <p:cNvPr id="3" name="Rectangle 2">
            <a:extLst>
              <a:ext uri="{FF2B5EF4-FFF2-40B4-BE49-F238E27FC236}">
                <a16:creationId xmlns:a16="http://schemas.microsoft.com/office/drawing/2014/main" id="{E5EA301A-633A-41B2-ABE4-A96C459DE5A7}"/>
              </a:ext>
            </a:extLst>
          </p:cNvPr>
          <p:cNvSpPr>
            <a:spLocks noGrp="1"/>
          </p:cNvSpPr>
          <p:nvPr/>
        </p:nvSpPr>
        <p:spPr>
          <a:xfrm>
            <a:off x="609600" y="1628775"/>
            <a:ext cx="4476750" cy="476250"/>
          </a:xfrm>
          <a:prstGeom prst="rect">
            <a:avLst/>
          </a:prstGeom>
          <a:noFill/>
          <a:ln w="0">
            <a:noFill/>
          </a:ln>
        </p:spPr>
        <p:txBody>
          <a:bodyPr/>
          <a:lstStyle>
            <a:defPPr>
              <a:defRPr sz="2250" b="1">
                <a:solidFill>
                  <a:srgbClr val="13694E"/>
                </a:solidFill>
                <a:latin typeface="Arial"/>
                <a:ea typeface="Arial"/>
                <a:cs typeface="Arial"/>
              </a:defRPr>
            </a:defPPr>
          </a:lstStyle>
          <a:p>
            <a:pPr>
              <a:defRPr sz="2250" b="1">
                <a:solidFill>
                  <a:srgbClr val="13694E"/>
                </a:solidFill>
                <a:latin typeface="Arial"/>
                <a:ea typeface="Arial"/>
                <a:cs typeface="Arial"/>
              </a:defRPr>
            </a:pPr>
            <a:r>
              <a:rPr sz="2250" b="1">
                <a:solidFill>
                  <a:srgbClr val="13694E"/>
                </a:solidFill>
                <a:latin typeface="Arial"/>
                <a:ea typeface="Arial"/>
                <a:cs typeface="Arial"/>
              </a:rPr>
              <a:t>Automated assessment</a:t>
            </a:r>
          </a:p>
        </p:txBody>
      </p:sp>
      <p:sp>
        <p:nvSpPr>
          <p:cNvPr id="4" name="Rectangle 3">
            <a:extLst>
              <a:ext uri="{FF2B5EF4-FFF2-40B4-BE49-F238E27FC236}">
                <a16:creationId xmlns:a16="http://schemas.microsoft.com/office/drawing/2014/main" id="{A3BA491A-65C0-480B-8BEF-95FED809BDDB}"/>
              </a:ext>
            </a:extLst>
          </p:cNvPr>
          <p:cNvSpPr>
            <a:spLocks noGrp="1"/>
          </p:cNvSpPr>
          <p:nvPr/>
        </p:nvSpPr>
        <p:spPr>
          <a:xfrm>
            <a:off x="609600" y="2266950"/>
            <a:ext cx="4095750" cy="1028700"/>
          </a:xfrm>
          <a:prstGeom prst="rect">
            <a:avLst/>
          </a:prstGeom>
          <a:noFill/>
          <a:ln w="0">
            <a:noFill/>
          </a:ln>
        </p:spPr>
        <p:txBody>
          <a:bodyPr/>
          <a:lstStyle>
            <a:defPPr>
              <a:defRPr sz="2175" b="0">
                <a:solidFill>
                  <a:srgbClr val="183C33"/>
                </a:solidFill>
                <a:latin typeface="Arial"/>
                <a:ea typeface="Arial"/>
                <a:cs typeface="Arial"/>
              </a:defRPr>
            </a:defPPr>
          </a:lstStyle>
          <a:p>
            <a:pPr>
              <a:defRPr sz="2175" b="0">
                <a:solidFill>
                  <a:srgbClr val="183C33"/>
                </a:solidFill>
                <a:latin typeface="Arial"/>
                <a:ea typeface="Arial"/>
                <a:cs typeface="Arial"/>
              </a:defRPr>
            </a:pPr>
            <a:r>
              <a:rPr sz="2175" b="0">
                <a:solidFill>
                  <a:srgbClr val="183C33"/>
                </a:solidFill>
                <a:latin typeface="Arial"/>
                <a:ea typeface="Arial"/>
                <a:cs typeface="Arial"/>
              </a:rPr>
              <a:t>Preliminary findings remain visible while a claim is under review.</a:t>
            </a:r>
          </a:p>
        </p:txBody>
      </p:sp>
      <p:sp>
        <p:nvSpPr>
          <p:cNvPr id="5" name="Rectangle 4">
            <a:extLst>
              <a:ext uri="{FF2B5EF4-FFF2-40B4-BE49-F238E27FC236}">
                <a16:creationId xmlns:a16="http://schemas.microsoft.com/office/drawing/2014/main" id="{BF470BB1-B947-4BB4-B3FC-CCE7E9982914}"/>
              </a:ext>
            </a:extLst>
          </p:cNvPr>
          <p:cNvSpPr>
            <a:spLocks noGrp="1"/>
          </p:cNvSpPr>
          <p:nvPr/>
        </p:nvSpPr>
        <p:spPr>
          <a:xfrm>
            <a:off x="609600" y="3762375"/>
            <a:ext cx="4476750" cy="457200"/>
          </a:xfrm>
          <a:prstGeom prst="rect">
            <a:avLst/>
          </a:prstGeom>
          <a:noFill/>
          <a:ln w="0">
            <a:noFill/>
          </a:ln>
        </p:spPr>
        <p:txBody>
          <a:bodyPr/>
          <a:lstStyle>
            <a:defPPr>
              <a:defRPr sz="2250" b="1">
                <a:solidFill>
                  <a:srgbClr val="13694E"/>
                </a:solidFill>
                <a:latin typeface="Arial"/>
                <a:ea typeface="Arial"/>
                <a:cs typeface="Arial"/>
              </a:defRPr>
            </a:defPPr>
          </a:lstStyle>
          <a:p>
            <a:pPr>
              <a:defRPr sz="2250" b="1">
                <a:solidFill>
                  <a:srgbClr val="13694E"/>
                </a:solidFill>
                <a:latin typeface="Arial"/>
                <a:ea typeface="Arial"/>
                <a:cs typeface="Arial"/>
              </a:defRPr>
            </a:pPr>
            <a:r>
              <a:rPr sz="2250" b="1">
                <a:solidFill>
                  <a:srgbClr val="13694E"/>
                </a:solidFill>
                <a:latin typeface="Arial"/>
                <a:ea typeface="Arial"/>
                <a:cs typeface="Arial"/>
              </a:rPr>
              <a:t>Expert-finalized verdict</a:t>
            </a:r>
          </a:p>
        </p:txBody>
      </p:sp>
      <p:sp>
        <p:nvSpPr>
          <p:cNvPr id="6" name="Rectangle 5">
            <a:extLst>
              <a:ext uri="{FF2B5EF4-FFF2-40B4-BE49-F238E27FC236}">
                <a16:creationId xmlns:a16="http://schemas.microsoft.com/office/drawing/2014/main" id="{6BB13413-0B5C-47DF-A0B0-E537E1684A8D}"/>
              </a:ext>
            </a:extLst>
          </p:cNvPr>
          <p:cNvSpPr>
            <a:spLocks noGrp="1"/>
          </p:cNvSpPr>
          <p:nvPr/>
        </p:nvSpPr>
        <p:spPr>
          <a:xfrm>
            <a:off x="609600" y="4333875"/>
            <a:ext cx="4095750" cy="1524000"/>
          </a:xfrm>
          <a:prstGeom prst="rect">
            <a:avLst/>
          </a:prstGeom>
          <a:noFill/>
          <a:ln w="0">
            <a:noFill/>
          </a:ln>
        </p:spPr>
        <p:txBody>
          <a:bodyPr/>
          <a:lstStyle>
            <a:defPPr>
              <a:defRPr sz="2025" b="0">
                <a:solidFill>
                  <a:srgbClr val="183C33"/>
                </a:solidFill>
                <a:latin typeface="Arial"/>
                <a:ea typeface="Arial"/>
                <a:cs typeface="Arial"/>
              </a:defRPr>
            </a:defPPr>
          </a:lstStyle>
          <a:p>
            <a:pPr>
              <a:defRPr sz="2025" b="0">
                <a:solidFill>
                  <a:srgbClr val="183C33"/>
                </a:solidFill>
                <a:latin typeface="Arial"/>
                <a:ea typeface="Arial"/>
                <a:cs typeface="Arial"/>
              </a:defRPr>
            </a:pPr>
            <a:r>
              <a:rPr sz="2025" b="0">
                <a:solidFill>
                  <a:srgbClr val="183C33"/>
                </a:solidFill>
                <a:latin typeface="Arial"/>
                <a:ea typeface="Arial"/>
                <a:cs typeface="Arial"/>
              </a:rPr>
              <a:t>Real, Fake, Misleading or Altered</a:t>
            </a:r>
          </a:p>
          <a:p>
            <a:endParaRPr sz="2025" b="0">
              <a:solidFill>
                <a:srgbClr val="183C33"/>
              </a:solidFill>
              <a:latin typeface="Arial"/>
              <a:ea typeface="Arial"/>
              <a:cs typeface="Arial"/>
            </a:endParaRPr>
          </a:p>
          <a:p>
            <a:pPr>
              <a:defRPr sz="2025" b="0">
                <a:solidFill>
                  <a:srgbClr val="183C33"/>
                </a:solidFill>
                <a:latin typeface="Arial"/>
                <a:ea typeface="Arial"/>
                <a:cs typeface="Arial"/>
              </a:defRPr>
            </a:pPr>
            <a:r>
              <a:rPr sz="2025" b="0">
                <a:solidFill>
                  <a:srgbClr val="183C33"/>
                </a:solidFill>
                <a:latin typeface="Arial"/>
                <a:ea typeface="Arial"/>
                <a:cs typeface="Arial"/>
              </a:rPr>
              <a:t>Unresolved cases can require an administrator decision.</a:t>
            </a:r>
          </a:p>
        </p:txBody>
      </p:sp>
      <p:pic>
        <p:nvPicPr>
          <p:cNvPr id="10" name="Picture 9">
            <a:extLst>
              <a:ext uri="{FF2B5EF4-FFF2-40B4-BE49-F238E27FC236}">
                <a16:creationId xmlns:a16="http://schemas.microsoft.com/office/drawing/2014/main" id="{7D2CDC85-5845-803D-D318-EAE34EED1EB7}"/>
              </a:ext>
            </a:extLst>
          </p:cNvPr>
          <p:cNvPicPr>
            <a:picLocks noChangeAspect="1"/>
          </p:cNvPicPr>
          <p:nvPr/>
        </p:nvPicPr>
        <p:blipFill>
          <a:blip r:embed="rId3"/>
          <a:stretch>
            <a:fillRect/>
          </a:stretch>
        </p:blipFill>
        <p:spPr>
          <a:xfrm>
            <a:off x="4705350" y="1793966"/>
            <a:ext cx="7470161" cy="3680774"/>
          </a:xfrm>
          <a:prstGeom prst="rect">
            <a:avLst/>
          </a:prstGeom>
        </p:spPr>
      </p:pic>
    </p:spTree>
    <p:extLst>
      <p:ext uri="{BB962C8B-B14F-4D97-AF65-F5344CB8AC3E}">
        <p14:creationId xmlns:p14="http://schemas.microsoft.com/office/powerpoint/2010/main" val="2068656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280862C-5C88-48BE-8EBA-77C3A976CE82}"/>
              </a:ext>
            </a:extLst>
          </p:cNvPr>
          <p:cNvSpPr>
            <a:spLocks noGrp="1"/>
          </p:cNvSpPr>
          <p:nvPr/>
        </p:nvSpPr>
        <p:spPr>
          <a:xfrm>
            <a:off x="609600" y="428625"/>
            <a:ext cx="10972800" cy="742950"/>
          </a:xfrm>
          <a:prstGeom prst="rect">
            <a:avLst/>
          </a:prstGeom>
          <a:noFill/>
          <a:ln w="0">
            <a:noFill/>
          </a:ln>
        </p:spPr>
        <p:txBody>
          <a:bodyPr/>
          <a:lstStyle>
            <a:defPPr>
              <a:defRPr sz="3300" b="1">
                <a:solidFill>
                  <a:srgbClr val="183C33"/>
                </a:solidFill>
                <a:latin typeface="Arial"/>
                <a:ea typeface="Arial"/>
                <a:cs typeface="Arial"/>
              </a:defRPr>
            </a:defPPr>
          </a:lstStyle>
          <a:p>
            <a:pPr>
              <a:defRPr sz="3300" b="1">
                <a:solidFill>
                  <a:srgbClr val="183C33"/>
                </a:solidFill>
                <a:latin typeface="Arial"/>
                <a:ea typeface="Arial"/>
                <a:cs typeface="Arial"/>
              </a:defRPr>
            </a:pPr>
            <a:r>
              <a:rPr sz="3300" b="1">
                <a:solidFill>
                  <a:srgbClr val="183C33"/>
                </a:solidFill>
                <a:latin typeface="Arial"/>
                <a:ea typeface="Arial"/>
                <a:cs typeface="Arial"/>
              </a:rPr>
              <a:t>Technology stack</a:t>
            </a:r>
          </a:p>
        </p:txBody>
      </p:sp>
      <p:sp>
        <p:nvSpPr>
          <p:cNvPr id="2" name="Rectangle 1">
            <a:extLst>
              <a:ext uri="{FF2B5EF4-FFF2-40B4-BE49-F238E27FC236}">
                <a16:creationId xmlns:a16="http://schemas.microsoft.com/office/drawing/2014/main" id="{DAF1698B-9BEA-430E-AD00-BA01C652326F}"/>
              </a:ext>
            </a:extLst>
          </p:cNvPr>
          <p:cNvSpPr>
            <a:spLocks noGrp="1"/>
          </p:cNvSpPr>
          <p:nvPr/>
        </p:nvSpPr>
        <p:spPr>
          <a:xfrm>
            <a:off x="11049000" y="6305550"/>
            <a:ext cx="523875" cy="228600"/>
          </a:xfrm>
          <a:prstGeom prst="rect">
            <a:avLst/>
          </a:prstGeom>
          <a:noFill/>
          <a:ln w="0">
            <a:noFill/>
          </a:ln>
        </p:spPr>
        <p:txBody>
          <a:bodyPr/>
          <a:lstStyle>
            <a:defPPr>
              <a:defRPr sz="1275" b="0">
                <a:solidFill>
                  <a:srgbClr val="6B8078"/>
                </a:solidFill>
                <a:latin typeface="Arial"/>
                <a:ea typeface="Arial"/>
                <a:cs typeface="Arial"/>
              </a:defRPr>
            </a:defPPr>
          </a:lstStyle>
          <a:p>
            <a:pPr>
              <a:defRPr sz="1275" b="0">
                <a:solidFill>
                  <a:srgbClr val="6B8078"/>
                </a:solidFill>
                <a:latin typeface="Arial"/>
                <a:ea typeface="Arial"/>
                <a:cs typeface="Arial"/>
              </a:defRPr>
            </a:pPr>
            <a:r>
              <a:rPr sz="1275" b="0" dirty="0">
                <a:solidFill>
                  <a:srgbClr val="6B8078"/>
                </a:solidFill>
                <a:latin typeface="Arial"/>
                <a:ea typeface="Arial"/>
                <a:cs typeface="Arial"/>
              </a:rPr>
              <a:t>0</a:t>
            </a:r>
            <a:r>
              <a:rPr lang="en-US" sz="1275" b="0" dirty="0">
                <a:solidFill>
                  <a:srgbClr val="6B8078"/>
                </a:solidFill>
                <a:latin typeface="Arial"/>
                <a:ea typeface="Arial"/>
                <a:cs typeface="Arial"/>
              </a:rPr>
              <a:t>9</a:t>
            </a:r>
            <a:endParaRPr sz="1275" b="0" dirty="0">
              <a:solidFill>
                <a:srgbClr val="6B8078"/>
              </a:solidFill>
              <a:latin typeface="Arial"/>
              <a:ea typeface="Arial"/>
              <a:cs typeface="Arial"/>
            </a:endParaRPr>
          </a:p>
        </p:txBody>
      </p:sp>
      <p:sp>
        <p:nvSpPr>
          <p:cNvPr id="3" name="Rectangle 2">
            <a:extLst>
              <a:ext uri="{FF2B5EF4-FFF2-40B4-BE49-F238E27FC236}">
                <a16:creationId xmlns:a16="http://schemas.microsoft.com/office/drawing/2014/main" id="{A1A00BDD-A7BD-410F-9412-1EFA3DD4ABEE}"/>
              </a:ext>
            </a:extLst>
          </p:cNvPr>
          <p:cNvSpPr>
            <a:spLocks noGrp="1"/>
          </p:cNvSpPr>
          <p:nvPr/>
        </p:nvSpPr>
        <p:spPr>
          <a:xfrm>
            <a:off x="628650" y="1533525"/>
            <a:ext cx="2857500" cy="457200"/>
          </a:xfrm>
          <a:prstGeom prst="rect">
            <a:avLst/>
          </a:prstGeom>
          <a:noFill/>
          <a:ln w="0">
            <a:noFill/>
          </a:ln>
        </p:spPr>
        <p:txBody>
          <a:bodyPr/>
          <a:lstStyle>
            <a:defPPr>
              <a:defRPr sz="1950" b="1">
                <a:solidFill>
                  <a:srgbClr val="13694E"/>
                </a:solidFill>
                <a:latin typeface="Arial"/>
                <a:ea typeface="Arial"/>
                <a:cs typeface="Arial"/>
              </a:defRPr>
            </a:defPPr>
          </a:lstStyle>
          <a:p>
            <a:pPr>
              <a:defRPr sz="1950" b="1">
                <a:solidFill>
                  <a:srgbClr val="13694E"/>
                </a:solidFill>
                <a:latin typeface="Arial"/>
                <a:ea typeface="Arial"/>
                <a:cs typeface="Arial"/>
              </a:defRPr>
            </a:pPr>
            <a:r>
              <a:rPr sz="1950" b="1">
                <a:solidFill>
                  <a:srgbClr val="13694E"/>
                </a:solidFill>
                <a:latin typeface="Arial"/>
                <a:ea typeface="Arial"/>
                <a:cs typeface="Arial"/>
              </a:rPr>
              <a:t>Website</a:t>
            </a:r>
          </a:p>
        </p:txBody>
      </p:sp>
      <p:sp>
        <p:nvSpPr>
          <p:cNvPr id="4" name="Rectangle 3">
            <a:extLst>
              <a:ext uri="{FF2B5EF4-FFF2-40B4-BE49-F238E27FC236}">
                <a16:creationId xmlns:a16="http://schemas.microsoft.com/office/drawing/2014/main" id="{ECA93762-8894-43EB-8F12-2A334C604C98}"/>
              </a:ext>
            </a:extLst>
          </p:cNvPr>
          <p:cNvSpPr>
            <a:spLocks noGrp="1"/>
          </p:cNvSpPr>
          <p:nvPr/>
        </p:nvSpPr>
        <p:spPr>
          <a:xfrm>
            <a:off x="3714750" y="1533525"/>
            <a:ext cx="7848600" cy="61912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Angular 19, TypeScript, SCSS, Angular Material/CDK</a:t>
            </a:r>
          </a:p>
        </p:txBody>
      </p:sp>
      <p:sp>
        <p:nvSpPr>
          <p:cNvPr id="5" name="Rectangle 4">
            <a:extLst>
              <a:ext uri="{FF2B5EF4-FFF2-40B4-BE49-F238E27FC236}">
                <a16:creationId xmlns:a16="http://schemas.microsoft.com/office/drawing/2014/main" id="{0340E548-A0EF-4A70-87EB-78688FADF523}"/>
              </a:ext>
            </a:extLst>
          </p:cNvPr>
          <p:cNvSpPr>
            <a:spLocks noGrp="1"/>
          </p:cNvSpPr>
          <p:nvPr/>
        </p:nvSpPr>
        <p:spPr>
          <a:xfrm>
            <a:off x="628650" y="2295525"/>
            <a:ext cx="2857500" cy="457200"/>
          </a:xfrm>
          <a:prstGeom prst="rect">
            <a:avLst/>
          </a:prstGeom>
          <a:noFill/>
          <a:ln w="0">
            <a:noFill/>
          </a:ln>
        </p:spPr>
        <p:txBody>
          <a:bodyPr/>
          <a:lstStyle>
            <a:defPPr>
              <a:defRPr sz="1950" b="1">
                <a:solidFill>
                  <a:srgbClr val="13694E"/>
                </a:solidFill>
                <a:latin typeface="Arial"/>
                <a:ea typeface="Arial"/>
                <a:cs typeface="Arial"/>
              </a:defRPr>
            </a:defPPr>
          </a:lstStyle>
          <a:p>
            <a:pPr>
              <a:defRPr sz="1950" b="1">
                <a:solidFill>
                  <a:srgbClr val="13694E"/>
                </a:solidFill>
                <a:latin typeface="Arial"/>
                <a:ea typeface="Arial"/>
                <a:cs typeface="Arial"/>
              </a:defRPr>
            </a:pPr>
            <a:r>
              <a:rPr sz="1950" b="1">
                <a:solidFill>
                  <a:srgbClr val="13694E"/>
                </a:solidFill>
                <a:latin typeface="Arial"/>
                <a:ea typeface="Arial"/>
                <a:cs typeface="Arial"/>
              </a:rPr>
              <a:t>Backend</a:t>
            </a:r>
          </a:p>
        </p:txBody>
      </p:sp>
      <p:sp>
        <p:nvSpPr>
          <p:cNvPr id="6" name="Rectangle 5">
            <a:extLst>
              <a:ext uri="{FF2B5EF4-FFF2-40B4-BE49-F238E27FC236}">
                <a16:creationId xmlns:a16="http://schemas.microsoft.com/office/drawing/2014/main" id="{462C32B9-5DB4-49E2-AEAC-90130255475D}"/>
              </a:ext>
            </a:extLst>
          </p:cNvPr>
          <p:cNvSpPr>
            <a:spLocks noGrp="1"/>
          </p:cNvSpPr>
          <p:nvPr/>
        </p:nvSpPr>
        <p:spPr>
          <a:xfrm>
            <a:off x="3714750" y="2295525"/>
            <a:ext cx="7848600" cy="61912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Python, FastAPI, SQLAlchemy, Alembic, Pydantic</a:t>
            </a:r>
          </a:p>
        </p:txBody>
      </p:sp>
      <p:sp>
        <p:nvSpPr>
          <p:cNvPr id="7" name="Rectangle 6">
            <a:extLst>
              <a:ext uri="{FF2B5EF4-FFF2-40B4-BE49-F238E27FC236}">
                <a16:creationId xmlns:a16="http://schemas.microsoft.com/office/drawing/2014/main" id="{D1BA2A6C-6074-4FA9-AD86-AE2EC4F96D21}"/>
              </a:ext>
            </a:extLst>
          </p:cNvPr>
          <p:cNvSpPr>
            <a:spLocks noGrp="1"/>
          </p:cNvSpPr>
          <p:nvPr/>
        </p:nvSpPr>
        <p:spPr>
          <a:xfrm>
            <a:off x="628650" y="3057525"/>
            <a:ext cx="2857500" cy="457200"/>
          </a:xfrm>
          <a:prstGeom prst="rect">
            <a:avLst/>
          </a:prstGeom>
          <a:noFill/>
          <a:ln w="0">
            <a:noFill/>
          </a:ln>
        </p:spPr>
        <p:txBody>
          <a:bodyPr/>
          <a:lstStyle>
            <a:defPPr>
              <a:defRPr sz="1950" b="1">
                <a:solidFill>
                  <a:srgbClr val="13694E"/>
                </a:solidFill>
                <a:latin typeface="Arial"/>
                <a:ea typeface="Arial"/>
                <a:cs typeface="Arial"/>
              </a:defRPr>
            </a:defPPr>
          </a:lstStyle>
          <a:p>
            <a:pPr>
              <a:defRPr sz="1950" b="1">
                <a:solidFill>
                  <a:srgbClr val="13694E"/>
                </a:solidFill>
                <a:latin typeface="Arial"/>
                <a:ea typeface="Arial"/>
                <a:cs typeface="Arial"/>
              </a:defRPr>
            </a:pPr>
            <a:r>
              <a:rPr sz="1950" b="1">
                <a:solidFill>
                  <a:srgbClr val="13694E"/>
                </a:solidFill>
                <a:latin typeface="Arial"/>
                <a:ea typeface="Arial"/>
                <a:cs typeface="Arial"/>
              </a:rPr>
              <a:t>AI and NLP</a:t>
            </a:r>
          </a:p>
        </p:txBody>
      </p:sp>
      <p:sp>
        <p:nvSpPr>
          <p:cNvPr id="8" name="Rectangle 7">
            <a:extLst>
              <a:ext uri="{FF2B5EF4-FFF2-40B4-BE49-F238E27FC236}">
                <a16:creationId xmlns:a16="http://schemas.microsoft.com/office/drawing/2014/main" id="{B04941A6-93FE-4FE7-8B58-61DE66863335}"/>
              </a:ext>
            </a:extLst>
          </p:cNvPr>
          <p:cNvSpPr>
            <a:spLocks noGrp="1"/>
          </p:cNvSpPr>
          <p:nvPr/>
        </p:nvSpPr>
        <p:spPr>
          <a:xfrm>
            <a:off x="3714750" y="3057525"/>
            <a:ext cx="7848600" cy="61912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PyTorch, Transformers, timm, LaBSE, NLI, NER, Gemini</a:t>
            </a:r>
          </a:p>
        </p:txBody>
      </p:sp>
      <p:sp>
        <p:nvSpPr>
          <p:cNvPr id="9" name="Rectangle 8">
            <a:extLst>
              <a:ext uri="{FF2B5EF4-FFF2-40B4-BE49-F238E27FC236}">
                <a16:creationId xmlns:a16="http://schemas.microsoft.com/office/drawing/2014/main" id="{6B131635-E3B3-4C2A-AF56-9230AD139872}"/>
              </a:ext>
            </a:extLst>
          </p:cNvPr>
          <p:cNvSpPr>
            <a:spLocks noGrp="1"/>
          </p:cNvSpPr>
          <p:nvPr/>
        </p:nvSpPr>
        <p:spPr>
          <a:xfrm>
            <a:off x="628650" y="3819525"/>
            <a:ext cx="2857500" cy="457200"/>
          </a:xfrm>
          <a:prstGeom prst="rect">
            <a:avLst/>
          </a:prstGeom>
          <a:noFill/>
          <a:ln w="0">
            <a:noFill/>
          </a:ln>
        </p:spPr>
        <p:txBody>
          <a:bodyPr/>
          <a:lstStyle>
            <a:defPPr>
              <a:defRPr sz="1950" b="1">
                <a:solidFill>
                  <a:srgbClr val="13694E"/>
                </a:solidFill>
                <a:latin typeface="Arial"/>
                <a:ea typeface="Arial"/>
                <a:cs typeface="Arial"/>
              </a:defRPr>
            </a:defPPr>
          </a:lstStyle>
          <a:p>
            <a:pPr>
              <a:defRPr sz="1950" b="1">
                <a:solidFill>
                  <a:srgbClr val="13694E"/>
                </a:solidFill>
                <a:latin typeface="Arial"/>
                <a:ea typeface="Arial"/>
                <a:cs typeface="Arial"/>
              </a:defRPr>
            </a:pPr>
            <a:r>
              <a:rPr sz="1950" b="1">
                <a:solidFill>
                  <a:srgbClr val="13694E"/>
                </a:solidFill>
                <a:latin typeface="Arial"/>
                <a:ea typeface="Arial"/>
                <a:cs typeface="Arial"/>
              </a:rPr>
              <a:t>Data services</a:t>
            </a:r>
          </a:p>
        </p:txBody>
      </p:sp>
      <p:sp>
        <p:nvSpPr>
          <p:cNvPr id="10" name="Rectangle 9">
            <a:extLst>
              <a:ext uri="{FF2B5EF4-FFF2-40B4-BE49-F238E27FC236}">
                <a16:creationId xmlns:a16="http://schemas.microsoft.com/office/drawing/2014/main" id="{B0E7F6EA-2960-4DC2-88E2-B180D2C8FB74}"/>
              </a:ext>
            </a:extLst>
          </p:cNvPr>
          <p:cNvSpPr>
            <a:spLocks noGrp="1"/>
          </p:cNvSpPr>
          <p:nvPr/>
        </p:nvSpPr>
        <p:spPr>
          <a:xfrm>
            <a:off x="3714750" y="3819525"/>
            <a:ext cx="7848600" cy="61912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PostgreSQL 17, Redis 7.2, MinIO</a:t>
            </a:r>
          </a:p>
        </p:txBody>
      </p:sp>
      <p:sp>
        <p:nvSpPr>
          <p:cNvPr id="11" name="Rectangle 10">
            <a:extLst>
              <a:ext uri="{FF2B5EF4-FFF2-40B4-BE49-F238E27FC236}">
                <a16:creationId xmlns:a16="http://schemas.microsoft.com/office/drawing/2014/main" id="{EA713594-841D-4764-8867-29F6F9B925E5}"/>
              </a:ext>
            </a:extLst>
          </p:cNvPr>
          <p:cNvSpPr>
            <a:spLocks noGrp="1"/>
          </p:cNvSpPr>
          <p:nvPr/>
        </p:nvSpPr>
        <p:spPr>
          <a:xfrm>
            <a:off x="628650" y="4581525"/>
            <a:ext cx="2857500" cy="457200"/>
          </a:xfrm>
          <a:prstGeom prst="rect">
            <a:avLst/>
          </a:prstGeom>
          <a:noFill/>
          <a:ln w="0">
            <a:noFill/>
          </a:ln>
        </p:spPr>
        <p:txBody>
          <a:bodyPr/>
          <a:lstStyle>
            <a:defPPr>
              <a:defRPr sz="1950" b="1">
                <a:solidFill>
                  <a:srgbClr val="13694E"/>
                </a:solidFill>
                <a:latin typeface="Arial"/>
                <a:ea typeface="Arial"/>
                <a:cs typeface="Arial"/>
              </a:defRPr>
            </a:defPPr>
          </a:lstStyle>
          <a:p>
            <a:pPr>
              <a:defRPr sz="1950" b="1">
                <a:solidFill>
                  <a:srgbClr val="13694E"/>
                </a:solidFill>
                <a:latin typeface="Arial"/>
                <a:ea typeface="Arial"/>
                <a:cs typeface="Arial"/>
              </a:defRPr>
            </a:pPr>
            <a:r>
              <a:rPr sz="1950" b="1">
                <a:solidFill>
                  <a:srgbClr val="13694E"/>
                </a:solidFill>
                <a:latin typeface="Arial"/>
                <a:ea typeface="Arial"/>
                <a:cs typeface="Arial"/>
              </a:rPr>
              <a:t>Browser extension</a:t>
            </a:r>
          </a:p>
        </p:txBody>
      </p:sp>
      <p:sp>
        <p:nvSpPr>
          <p:cNvPr id="12" name="Rectangle 11">
            <a:extLst>
              <a:ext uri="{FF2B5EF4-FFF2-40B4-BE49-F238E27FC236}">
                <a16:creationId xmlns:a16="http://schemas.microsoft.com/office/drawing/2014/main" id="{107DDDB1-817D-4B4E-A141-CDAB762F9957}"/>
              </a:ext>
            </a:extLst>
          </p:cNvPr>
          <p:cNvSpPr>
            <a:spLocks noGrp="1"/>
          </p:cNvSpPr>
          <p:nvPr/>
        </p:nvSpPr>
        <p:spPr>
          <a:xfrm>
            <a:off x="3714750" y="4581525"/>
            <a:ext cx="7848600" cy="61912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Preact, Vite 6, Chrome Manifest V3</a:t>
            </a:r>
          </a:p>
        </p:txBody>
      </p:sp>
      <p:sp>
        <p:nvSpPr>
          <p:cNvPr id="13" name="Rectangle 12">
            <a:extLst>
              <a:ext uri="{FF2B5EF4-FFF2-40B4-BE49-F238E27FC236}">
                <a16:creationId xmlns:a16="http://schemas.microsoft.com/office/drawing/2014/main" id="{9B1809FC-AD16-4CF5-A0BB-B0BCBD47033B}"/>
              </a:ext>
            </a:extLst>
          </p:cNvPr>
          <p:cNvSpPr>
            <a:spLocks noGrp="1"/>
          </p:cNvSpPr>
          <p:nvPr/>
        </p:nvSpPr>
        <p:spPr>
          <a:xfrm>
            <a:off x="628650" y="5343525"/>
            <a:ext cx="2857500" cy="457200"/>
          </a:xfrm>
          <a:prstGeom prst="rect">
            <a:avLst/>
          </a:prstGeom>
          <a:noFill/>
          <a:ln w="0">
            <a:noFill/>
          </a:ln>
        </p:spPr>
        <p:txBody>
          <a:bodyPr/>
          <a:lstStyle>
            <a:defPPr>
              <a:defRPr sz="1950" b="1">
                <a:solidFill>
                  <a:srgbClr val="13694E"/>
                </a:solidFill>
                <a:latin typeface="Arial"/>
                <a:ea typeface="Arial"/>
                <a:cs typeface="Arial"/>
              </a:defRPr>
            </a:defPPr>
          </a:lstStyle>
          <a:p>
            <a:pPr>
              <a:defRPr sz="1950" b="1">
                <a:solidFill>
                  <a:srgbClr val="13694E"/>
                </a:solidFill>
                <a:latin typeface="Arial"/>
                <a:ea typeface="Arial"/>
                <a:cs typeface="Arial"/>
              </a:defRPr>
            </a:pPr>
            <a:r>
              <a:rPr sz="1950" b="1" dirty="0">
                <a:solidFill>
                  <a:srgbClr val="13694E"/>
                </a:solidFill>
                <a:latin typeface="Arial"/>
                <a:ea typeface="Arial"/>
                <a:cs typeface="Arial"/>
              </a:rPr>
              <a:t>Testing</a:t>
            </a:r>
          </a:p>
        </p:txBody>
      </p:sp>
      <p:sp>
        <p:nvSpPr>
          <p:cNvPr id="14" name="Rectangle 13">
            <a:extLst>
              <a:ext uri="{FF2B5EF4-FFF2-40B4-BE49-F238E27FC236}">
                <a16:creationId xmlns:a16="http://schemas.microsoft.com/office/drawing/2014/main" id="{80E13DCD-9FA8-4EA4-B938-64D84A625409}"/>
              </a:ext>
            </a:extLst>
          </p:cNvPr>
          <p:cNvSpPr>
            <a:spLocks noGrp="1"/>
          </p:cNvSpPr>
          <p:nvPr/>
        </p:nvSpPr>
        <p:spPr>
          <a:xfrm>
            <a:off x="3714750" y="5343525"/>
            <a:ext cx="7848600" cy="61912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dirty="0" err="1">
                <a:solidFill>
                  <a:srgbClr val="183C33"/>
                </a:solidFill>
                <a:latin typeface="Arial"/>
                <a:ea typeface="Arial"/>
                <a:cs typeface="Arial"/>
              </a:rPr>
              <a:t>pytest</a:t>
            </a:r>
            <a:r>
              <a:rPr sz="1950" b="0" dirty="0">
                <a:solidFill>
                  <a:srgbClr val="183C33"/>
                </a:solidFill>
                <a:latin typeface="Arial"/>
                <a:ea typeface="Arial"/>
                <a:cs typeface="Arial"/>
              </a:rPr>
              <a:t>, Karma/Jasmine, Node test runner</a:t>
            </a:r>
          </a:p>
        </p:txBody>
      </p:sp>
    </p:spTree>
    <p:extLst>
      <p:ext uri="{BB962C8B-B14F-4D97-AF65-F5344CB8AC3E}">
        <p14:creationId xmlns:p14="http://schemas.microsoft.com/office/powerpoint/2010/main" val="1847906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a:extLst>
            <a:ext uri="{FF2B5EF4-FFF2-40B4-BE49-F238E27FC236}">
              <a16:creationId xmlns:a16="http://schemas.microsoft.com/office/drawing/2014/main" id="{AAAD95F4-ACFF-2664-DB47-242230B96776}"/>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6A634071-17F0-57C3-FB5D-6709C29CAAFD}"/>
              </a:ext>
            </a:extLst>
          </p:cNvPr>
          <p:cNvSpPr>
            <a:spLocks noGrp="1"/>
          </p:cNvSpPr>
          <p:nvPr/>
        </p:nvSpPr>
        <p:spPr>
          <a:xfrm>
            <a:off x="609600" y="428625"/>
            <a:ext cx="10972800" cy="742950"/>
          </a:xfrm>
          <a:prstGeom prst="rect">
            <a:avLst/>
          </a:prstGeom>
          <a:noFill/>
          <a:ln w="0">
            <a:noFill/>
          </a:ln>
        </p:spPr>
        <p:txBody>
          <a:bodyPr/>
          <a:lstStyle>
            <a:defPPr>
              <a:defRPr sz="3300" b="1">
                <a:solidFill>
                  <a:srgbClr val="183C33"/>
                </a:solidFill>
                <a:latin typeface="Arial"/>
                <a:ea typeface="Arial"/>
                <a:cs typeface="Arial"/>
              </a:defRPr>
            </a:defPPr>
          </a:lstStyle>
          <a:p>
            <a:r>
              <a:rPr lang="en-US" sz="3600" b="1" dirty="0"/>
              <a:t>Live Demonstration</a:t>
            </a:r>
          </a:p>
        </p:txBody>
      </p:sp>
      <p:sp>
        <p:nvSpPr>
          <p:cNvPr id="2" name="Rectangle 1">
            <a:extLst>
              <a:ext uri="{FF2B5EF4-FFF2-40B4-BE49-F238E27FC236}">
                <a16:creationId xmlns:a16="http://schemas.microsoft.com/office/drawing/2014/main" id="{F93825CC-6363-C0C0-BE77-32E281AE4D5B}"/>
              </a:ext>
            </a:extLst>
          </p:cNvPr>
          <p:cNvSpPr>
            <a:spLocks noGrp="1"/>
          </p:cNvSpPr>
          <p:nvPr/>
        </p:nvSpPr>
        <p:spPr>
          <a:xfrm>
            <a:off x="11049000" y="6305550"/>
            <a:ext cx="523875" cy="228600"/>
          </a:xfrm>
          <a:prstGeom prst="rect">
            <a:avLst/>
          </a:prstGeom>
          <a:noFill/>
          <a:ln w="0">
            <a:noFill/>
          </a:ln>
        </p:spPr>
        <p:txBody>
          <a:bodyPr/>
          <a:lstStyle>
            <a:defPPr>
              <a:defRPr sz="1275" b="0">
                <a:solidFill>
                  <a:srgbClr val="6B8078"/>
                </a:solidFill>
                <a:latin typeface="Arial"/>
                <a:ea typeface="Arial"/>
                <a:cs typeface="Arial"/>
              </a:defRPr>
            </a:defPPr>
          </a:lstStyle>
          <a:p>
            <a:pPr>
              <a:defRPr sz="1275" b="0">
                <a:solidFill>
                  <a:srgbClr val="6B8078"/>
                </a:solidFill>
                <a:latin typeface="Arial"/>
                <a:ea typeface="Arial"/>
                <a:cs typeface="Arial"/>
              </a:defRPr>
            </a:pPr>
            <a:r>
              <a:rPr sz="1275" b="0">
                <a:solidFill>
                  <a:srgbClr val="6B8078"/>
                </a:solidFill>
                <a:latin typeface="Arial"/>
                <a:ea typeface="Arial"/>
                <a:cs typeface="Arial"/>
              </a:rPr>
              <a:t>08</a:t>
            </a:r>
          </a:p>
        </p:txBody>
      </p:sp>
      <p:sp>
        <p:nvSpPr>
          <p:cNvPr id="16" name="TextBox 15">
            <a:extLst>
              <a:ext uri="{FF2B5EF4-FFF2-40B4-BE49-F238E27FC236}">
                <a16:creationId xmlns:a16="http://schemas.microsoft.com/office/drawing/2014/main" id="{82A3481D-C755-4138-D717-435629636790}"/>
              </a:ext>
            </a:extLst>
          </p:cNvPr>
          <p:cNvSpPr txBox="1"/>
          <p:nvPr/>
        </p:nvSpPr>
        <p:spPr>
          <a:xfrm>
            <a:off x="2294708" y="2734492"/>
            <a:ext cx="7602583" cy="584775"/>
          </a:xfrm>
          <a:prstGeom prst="rect">
            <a:avLst/>
          </a:prstGeom>
          <a:noFill/>
        </p:spPr>
        <p:txBody>
          <a:bodyPr wrap="square" rtlCol="0">
            <a:spAutoFit/>
          </a:bodyPr>
          <a:lstStyle/>
          <a:p>
            <a:r>
              <a:rPr lang="en-US" sz="3200" dirty="0"/>
              <a:t>Website link: </a:t>
            </a:r>
            <a:r>
              <a:rPr lang="en-US" sz="3200" dirty="0" err="1">
                <a:hlinkClick r:id="rId3"/>
              </a:rPr>
              <a:t>Banglafactguard</a:t>
            </a:r>
            <a:endParaRPr lang="en-US" sz="3200" dirty="0"/>
          </a:p>
        </p:txBody>
      </p:sp>
    </p:spTree>
    <p:extLst>
      <p:ext uri="{BB962C8B-B14F-4D97-AF65-F5344CB8AC3E}">
        <p14:creationId xmlns:p14="http://schemas.microsoft.com/office/powerpoint/2010/main" val="4146063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5A586FF-8D13-4EEA-A09A-6F9387697F31}"/>
              </a:ext>
            </a:extLst>
          </p:cNvPr>
          <p:cNvSpPr>
            <a:spLocks noGrp="1"/>
          </p:cNvSpPr>
          <p:nvPr/>
        </p:nvSpPr>
        <p:spPr>
          <a:xfrm>
            <a:off x="609600" y="428625"/>
            <a:ext cx="10972800" cy="742950"/>
          </a:xfrm>
          <a:prstGeom prst="rect">
            <a:avLst/>
          </a:prstGeom>
          <a:noFill/>
          <a:ln w="0">
            <a:noFill/>
          </a:ln>
        </p:spPr>
        <p:txBody>
          <a:bodyPr/>
          <a:lstStyle>
            <a:defPPr>
              <a:defRPr sz="3300" b="1">
                <a:solidFill>
                  <a:srgbClr val="183C33"/>
                </a:solidFill>
                <a:latin typeface="Arial"/>
                <a:ea typeface="Arial"/>
                <a:cs typeface="Arial"/>
              </a:defRPr>
            </a:defPPr>
          </a:lstStyle>
          <a:p>
            <a:pPr>
              <a:defRPr sz="3300" b="1">
                <a:solidFill>
                  <a:srgbClr val="183C33"/>
                </a:solidFill>
                <a:latin typeface="Arial"/>
                <a:ea typeface="Arial"/>
                <a:cs typeface="Arial"/>
              </a:defRPr>
            </a:pPr>
            <a:r>
              <a:rPr sz="3300" b="1">
                <a:solidFill>
                  <a:srgbClr val="183C33"/>
                </a:solidFill>
                <a:latin typeface="Arial"/>
                <a:ea typeface="Arial"/>
                <a:cs typeface="Arial"/>
              </a:rPr>
              <a:t>Demonstration: text submission</a:t>
            </a:r>
          </a:p>
        </p:txBody>
      </p:sp>
      <p:sp>
        <p:nvSpPr>
          <p:cNvPr id="2" name="Rectangle 1">
            <a:extLst>
              <a:ext uri="{FF2B5EF4-FFF2-40B4-BE49-F238E27FC236}">
                <a16:creationId xmlns:a16="http://schemas.microsoft.com/office/drawing/2014/main" id="{B5AEE968-D2DF-4D98-83BA-61A253D385A6}"/>
              </a:ext>
            </a:extLst>
          </p:cNvPr>
          <p:cNvSpPr>
            <a:spLocks noGrp="1"/>
          </p:cNvSpPr>
          <p:nvPr/>
        </p:nvSpPr>
        <p:spPr>
          <a:xfrm>
            <a:off x="11049000" y="6305550"/>
            <a:ext cx="523875" cy="228600"/>
          </a:xfrm>
          <a:prstGeom prst="rect">
            <a:avLst/>
          </a:prstGeom>
          <a:noFill/>
          <a:ln w="0">
            <a:noFill/>
          </a:ln>
        </p:spPr>
        <p:txBody>
          <a:bodyPr/>
          <a:lstStyle>
            <a:defPPr>
              <a:defRPr sz="1275" b="0">
                <a:solidFill>
                  <a:srgbClr val="6B8078"/>
                </a:solidFill>
                <a:latin typeface="Arial"/>
                <a:ea typeface="Arial"/>
                <a:cs typeface="Arial"/>
              </a:defRPr>
            </a:defPPr>
          </a:lstStyle>
          <a:p>
            <a:pPr>
              <a:defRPr sz="1275" b="0">
                <a:solidFill>
                  <a:srgbClr val="6B8078"/>
                </a:solidFill>
                <a:latin typeface="Arial"/>
                <a:ea typeface="Arial"/>
                <a:cs typeface="Arial"/>
              </a:defRPr>
            </a:pPr>
            <a:r>
              <a:rPr sz="1275" b="0">
                <a:solidFill>
                  <a:srgbClr val="6B8078"/>
                </a:solidFill>
                <a:latin typeface="Arial"/>
                <a:ea typeface="Arial"/>
                <a:cs typeface="Arial"/>
              </a:rPr>
              <a:t>11</a:t>
            </a:r>
          </a:p>
        </p:txBody>
      </p:sp>
      <p:sp>
        <p:nvSpPr>
          <p:cNvPr id="3" name="Rectangle 2">
            <a:extLst>
              <a:ext uri="{FF2B5EF4-FFF2-40B4-BE49-F238E27FC236}">
                <a16:creationId xmlns:a16="http://schemas.microsoft.com/office/drawing/2014/main" id="{0FAC4AB1-355A-4B31-BEE9-220C70A17D86}"/>
              </a:ext>
            </a:extLst>
          </p:cNvPr>
          <p:cNvSpPr>
            <a:spLocks noGrp="1"/>
          </p:cNvSpPr>
          <p:nvPr/>
        </p:nvSpPr>
        <p:spPr>
          <a:xfrm>
            <a:off x="609600" y="1714500"/>
            <a:ext cx="495300" cy="400050"/>
          </a:xfrm>
          <a:prstGeom prst="rect">
            <a:avLst/>
          </a:prstGeom>
          <a:noFill/>
          <a:ln w="0">
            <a:noFill/>
          </a:ln>
        </p:spPr>
        <p:txBody>
          <a:bodyPr/>
          <a:lstStyle>
            <a:defPPr>
              <a:defRPr sz="1875" b="1">
                <a:solidFill>
                  <a:srgbClr val="13694E"/>
                </a:solidFill>
                <a:latin typeface="Arial"/>
                <a:ea typeface="Arial"/>
                <a:cs typeface="Arial"/>
              </a:defRPr>
            </a:defPPr>
          </a:lstStyle>
          <a:p>
            <a:pPr>
              <a:defRPr sz="1875" b="1">
                <a:solidFill>
                  <a:srgbClr val="13694E"/>
                </a:solidFill>
                <a:latin typeface="Arial"/>
                <a:ea typeface="Arial"/>
                <a:cs typeface="Arial"/>
              </a:defRPr>
            </a:pPr>
            <a:r>
              <a:rPr sz="1875" b="1">
                <a:solidFill>
                  <a:srgbClr val="13694E"/>
                </a:solidFill>
                <a:latin typeface="Arial"/>
                <a:ea typeface="Arial"/>
                <a:cs typeface="Arial"/>
              </a:rPr>
              <a:t>01</a:t>
            </a:r>
          </a:p>
        </p:txBody>
      </p:sp>
      <p:sp>
        <p:nvSpPr>
          <p:cNvPr id="4" name="Rectangle 3">
            <a:extLst>
              <a:ext uri="{FF2B5EF4-FFF2-40B4-BE49-F238E27FC236}">
                <a16:creationId xmlns:a16="http://schemas.microsoft.com/office/drawing/2014/main" id="{9E75376D-F218-43CF-946C-5D686B243EA4}"/>
              </a:ext>
            </a:extLst>
          </p:cNvPr>
          <p:cNvSpPr>
            <a:spLocks noGrp="1"/>
          </p:cNvSpPr>
          <p:nvPr/>
        </p:nvSpPr>
        <p:spPr>
          <a:xfrm>
            <a:off x="1238250" y="1714500"/>
            <a:ext cx="3429000" cy="109537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Enter a Bangla headline and select a source when known.</a:t>
            </a:r>
          </a:p>
        </p:txBody>
      </p:sp>
      <p:sp>
        <p:nvSpPr>
          <p:cNvPr id="5" name="Rectangle 4">
            <a:extLst>
              <a:ext uri="{FF2B5EF4-FFF2-40B4-BE49-F238E27FC236}">
                <a16:creationId xmlns:a16="http://schemas.microsoft.com/office/drawing/2014/main" id="{C4030751-FF6D-4AFA-9AAB-16E61162C5F7}"/>
              </a:ext>
            </a:extLst>
          </p:cNvPr>
          <p:cNvSpPr>
            <a:spLocks noGrp="1"/>
          </p:cNvSpPr>
          <p:nvPr/>
        </p:nvSpPr>
        <p:spPr>
          <a:xfrm>
            <a:off x="609600" y="3095625"/>
            <a:ext cx="495300" cy="400050"/>
          </a:xfrm>
          <a:prstGeom prst="rect">
            <a:avLst/>
          </a:prstGeom>
          <a:noFill/>
          <a:ln w="0">
            <a:noFill/>
          </a:ln>
        </p:spPr>
        <p:txBody>
          <a:bodyPr/>
          <a:lstStyle>
            <a:defPPr>
              <a:defRPr sz="1875" b="1">
                <a:solidFill>
                  <a:srgbClr val="13694E"/>
                </a:solidFill>
                <a:latin typeface="Arial"/>
                <a:ea typeface="Arial"/>
                <a:cs typeface="Arial"/>
              </a:defRPr>
            </a:defPPr>
          </a:lstStyle>
          <a:p>
            <a:pPr>
              <a:defRPr sz="1875" b="1">
                <a:solidFill>
                  <a:srgbClr val="13694E"/>
                </a:solidFill>
                <a:latin typeface="Arial"/>
                <a:ea typeface="Arial"/>
                <a:cs typeface="Arial"/>
              </a:defRPr>
            </a:pPr>
            <a:r>
              <a:rPr sz="1875" b="1">
                <a:solidFill>
                  <a:srgbClr val="13694E"/>
                </a:solidFill>
                <a:latin typeface="Arial"/>
                <a:ea typeface="Arial"/>
                <a:cs typeface="Arial"/>
              </a:rPr>
              <a:t>02</a:t>
            </a:r>
          </a:p>
        </p:txBody>
      </p:sp>
      <p:sp>
        <p:nvSpPr>
          <p:cNvPr id="6" name="Rectangle 5">
            <a:extLst>
              <a:ext uri="{FF2B5EF4-FFF2-40B4-BE49-F238E27FC236}">
                <a16:creationId xmlns:a16="http://schemas.microsoft.com/office/drawing/2014/main" id="{7438E5A2-3079-4BEA-8DDF-C8562C7F4935}"/>
              </a:ext>
            </a:extLst>
          </p:cNvPr>
          <p:cNvSpPr>
            <a:spLocks noGrp="1"/>
          </p:cNvSpPr>
          <p:nvPr/>
        </p:nvSpPr>
        <p:spPr>
          <a:xfrm>
            <a:off x="1238250" y="3095625"/>
            <a:ext cx="3429000" cy="109537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Optionally add article text and the claimed publication date.</a:t>
            </a:r>
          </a:p>
        </p:txBody>
      </p:sp>
      <p:sp>
        <p:nvSpPr>
          <p:cNvPr id="7" name="Rectangle 6">
            <a:extLst>
              <a:ext uri="{FF2B5EF4-FFF2-40B4-BE49-F238E27FC236}">
                <a16:creationId xmlns:a16="http://schemas.microsoft.com/office/drawing/2014/main" id="{EDD8AD6B-E77D-4A8A-B511-FFDFBF2A2E6C}"/>
              </a:ext>
            </a:extLst>
          </p:cNvPr>
          <p:cNvSpPr>
            <a:spLocks noGrp="1"/>
          </p:cNvSpPr>
          <p:nvPr/>
        </p:nvSpPr>
        <p:spPr>
          <a:xfrm>
            <a:off x="609600" y="4476750"/>
            <a:ext cx="495300" cy="400050"/>
          </a:xfrm>
          <a:prstGeom prst="rect">
            <a:avLst/>
          </a:prstGeom>
          <a:noFill/>
          <a:ln w="0">
            <a:noFill/>
          </a:ln>
        </p:spPr>
        <p:txBody>
          <a:bodyPr/>
          <a:lstStyle>
            <a:defPPr>
              <a:defRPr sz="1875" b="1">
                <a:solidFill>
                  <a:srgbClr val="13694E"/>
                </a:solidFill>
                <a:latin typeface="Arial"/>
                <a:ea typeface="Arial"/>
                <a:cs typeface="Arial"/>
              </a:defRPr>
            </a:defPPr>
          </a:lstStyle>
          <a:p>
            <a:pPr>
              <a:defRPr sz="1875" b="1">
                <a:solidFill>
                  <a:srgbClr val="13694E"/>
                </a:solidFill>
                <a:latin typeface="Arial"/>
                <a:ea typeface="Arial"/>
                <a:cs typeface="Arial"/>
              </a:defRPr>
            </a:pPr>
            <a:r>
              <a:rPr sz="1875" b="1">
                <a:solidFill>
                  <a:srgbClr val="13694E"/>
                </a:solidFill>
                <a:latin typeface="Arial"/>
                <a:ea typeface="Arial"/>
                <a:cs typeface="Arial"/>
              </a:rPr>
              <a:t>03</a:t>
            </a:r>
          </a:p>
        </p:txBody>
      </p:sp>
      <p:sp>
        <p:nvSpPr>
          <p:cNvPr id="8" name="Rectangle 7">
            <a:extLst>
              <a:ext uri="{FF2B5EF4-FFF2-40B4-BE49-F238E27FC236}">
                <a16:creationId xmlns:a16="http://schemas.microsoft.com/office/drawing/2014/main" id="{FF41A1E6-57A1-4895-895E-28DE05ABCD5E}"/>
              </a:ext>
            </a:extLst>
          </p:cNvPr>
          <p:cNvSpPr>
            <a:spLocks noGrp="1"/>
          </p:cNvSpPr>
          <p:nvPr/>
        </p:nvSpPr>
        <p:spPr>
          <a:xfrm>
            <a:off x="1238250" y="4476750"/>
            <a:ext cx="3429000" cy="109537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Submit the claim and show its processing status.</a:t>
            </a:r>
          </a:p>
        </p:txBody>
      </p:sp>
      <p:pic>
        <p:nvPicPr>
          <p:cNvPr id="12" name="Picture 11">
            <a:extLst>
              <a:ext uri="{FF2B5EF4-FFF2-40B4-BE49-F238E27FC236}">
                <a16:creationId xmlns:a16="http://schemas.microsoft.com/office/drawing/2014/main" id="{8D90061C-652C-030C-1390-32CE2A8877DA}"/>
              </a:ext>
            </a:extLst>
          </p:cNvPr>
          <p:cNvPicPr>
            <a:picLocks noChangeAspect="1"/>
          </p:cNvPicPr>
          <p:nvPr/>
        </p:nvPicPr>
        <p:blipFill>
          <a:blip r:embed="rId3"/>
          <a:stretch>
            <a:fillRect/>
          </a:stretch>
        </p:blipFill>
        <p:spPr>
          <a:xfrm>
            <a:off x="5259977" y="1673746"/>
            <a:ext cx="5693773" cy="3939131"/>
          </a:xfrm>
          <a:prstGeom prst="rect">
            <a:avLst/>
          </a:prstGeom>
        </p:spPr>
      </p:pic>
    </p:spTree>
    <p:extLst>
      <p:ext uri="{BB962C8B-B14F-4D97-AF65-F5344CB8AC3E}">
        <p14:creationId xmlns:p14="http://schemas.microsoft.com/office/powerpoint/2010/main" val="1963190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AB3621-AF92-4C95-B3AC-9AF19FBC6638}"/>
              </a:ext>
            </a:extLst>
          </p:cNvPr>
          <p:cNvSpPr>
            <a:spLocks noGrp="1"/>
          </p:cNvSpPr>
          <p:nvPr/>
        </p:nvSpPr>
        <p:spPr>
          <a:xfrm>
            <a:off x="609600" y="428625"/>
            <a:ext cx="10972800" cy="742950"/>
          </a:xfrm>
          <a:prstGeom prst="rect">
            <a:avLst/>
          </a:prstGeom>
          <a:noFill/>
          <a:ln w="0">
            <a:noFill/>
          </a:ln>
        </p:spPr>
        <p:txBody>
          <a:bodyPr/>
          <a:lstStyle>
            <a:defPPr>
              <a:defRPr sz="3300" b="1">
                <a:solidFill>
                  <a:srgbClr val="183C33"/>
                </a:solidFill>
                <a:latin typeface="Arial"/>
                <a:ea typeface="Arial"/>
                <a:cs typeface="Arial"/>
              </a:defRPr>
            </a:defPPr>
          </a:lstStyle>
          <a:p>
            <a:pPr>
              <a:defRPr sz="3300" b="1">
                <a:solidFill>
                  <a:srgbClr val="183C33"/>
                </a:solidFill>
                <a:latin typeface="Arial"/>
                <a:ea typeface="Arial"/>
                <a:cs typeface="Arial"/>
              </a:defRPr>
            </a:pPr>
            <a:r>
              <a:rPr sz="3300" b="1">
                <a:solidFill>
                  <a:srgbClr val="183C33"/>
                </a:solidFill>
                <a:latin typeface="Arial"/>
                <a:ea typeface="Arial"/>
                <a:cs typeface="Arial"/>
              </a:rPr>
              <a:t>Demonstration: evidence report</a:t>
            </a:r>
          </a:p>
        </p:txBody>
      </p:sp>
      <p:sp>
        <p:nvSpPr>
          <p:cNvPr id="2" name="Rectangle 1">
            <a:extLst>
              <a:ext uri="{FF2B5EF4-FFF2-40B4-BE49-F238E27FC236}">
                <a16:creationId xmlns:a16="http://schemas.microsoft.com/office/drawing/2014/main" id="{93DFE452-2D06-4702-A5B1-6053D46AB804}"/>
              </a:ext>
            </a:extLst>
          </p:cNvPr>
          <p:cNvSpPr>
            <a:spLocks noGrp="1"/>
          </p:cNvSpPr>
          <p:nvPr/>
        </p:nvSpPr>
        <p:spPr>
          <a:xfrm>
            <a:off x="11049000" y="6305550"/>
            <a:ext cx="523875" cy="228600"/>
          </a:xfrm>
          <a:prstGeom prst="rect">
            <a:avLst/>
          </a:prstGeom>
          <a:noFill/>
          <a:ln w="0">
            <a:noFill/>
          </a:ln>
        </p:spPr>
        <p:txBody>
          <a:bodyPr/>
          <a:lstStyle>
            <a:defPPr>
              <a:defRPr sz="1275" b="0">
                <a:solidFill>
                  <a:srgbClr val="6B8078"/>
                </a:solidFill>
                <a:latin typeface="Arial"/>
                <a:ea typeface="Arial"/>
                <a:cs typeface="Arial"/>
              </a:defRPr>
            </a:defPPr>
          </a:lstStyle>
          <a:p>
            <a:pPr>
              <a:defRPr sz="1275" b="0">
                <a:solidFill>
                  <a:srgbClr val="6B8078"/>
                </a:solidFill>
                <a:latin typeface="Arial"/>
                <a:ea typeface="Arial"/>
                <a:cs typeface="Arial"/>
              </a:defRPr>
            </a:pPr>
            <a:r>
              <a:rPr sz="1275" b="0">
                <a:solidFill>
                  <a:srgbClr val="6B8078"/>
                </a:solidFill>
                <a:latin typeface="Arial"/>
                <a:ea typeface="Arial"/>
                <a:cs typeface="Arial"/>
              </a:rPr>
              <a:t>12</a:t>
            </a:r>
          </a:p>
        </p:txBody>
      </p:sp>
      <p:sp>
        <p:nvSpPr>
          <p:cNvPr id="3" name="Rectangle 2">
            <a:extLst>
              <a:ext uri="{FF2B5EF4-FFF2-40B4-BE49-F238E27FC236}">
                <a16:creationId xmlns:a16="http://schemas.microsoft.com/office/drawing/2014/main" id="{C00A95E6-96AA-40BA-909A-B599405DD5EA}"/>
              </a:ext>
            </a:extLst>
          </p:cNvPr>
          <p:cNvSpPr>
            <a:spLocks noGrp="1"/>
          </p:cNvSpPr>
          <p:nvPr/>
        </p:nvSpPr>
        <p:spPr>
          <a:xfrm>
            <a:off x="609600" y="1714500"/>
            <a:ext cx="495300" cy="400050"/>
          </a:xfrm>
          <a:prstGeom prst="rect">
            <a:avLst/>
          </a:prstGeom>
          <a:noFill/>
          <a:ln w="0">
            <a:noFill/>
          </a:ln>
        </p:spPr>
        <p:txBody>
          <a:bodyPr/>
          <a:lstStyle>
            <a:defPPr>
              <a:defRPr sz="1875" b="1">
                <a:solidFill>
                  <a:srgbClr val="13694E"/>
                </a:solidFill>
                <a:latin typeface="Arial"/>
                <a:ea typeface="Arial"/>
                <a:cs typeface="Arial"/>
              </a:defRPr>
            </a:defPPr>
          </a:lstStyle>
          <a:p>
            <a:pPr>
              <a:defRPr sz="1875" b="1">
                <a:solidFill>
                  <a:srgbClr val="13694E"/>
                </a:solidFill>
                <a:latin typeface="Arial"/>
                <a:ea typeface="Arial"/>
                <a:cs typeface="Arial"/>
              </a:defRPr>
            </a:pPr>
            <a:r>
              <a:rPr sz="1875" b="1">
                <a:solidFill>
                  <a:srgbClr val="13694E"/>
                </a:solidFill>
                <a:latin typeface="Arial"/>
                <a:ea typeface="Arial"/>
                <a:cs typeface="Arial"/>
              </a:rPr>
              <a:t>01</a:t>
            </a:r>
          </a:p>
        </p:txBody>
      </p:sp>
      <p:sp>
        <p:nvSpPr>
          <p:cNvPr id="4" name="Rectangle 3">
            <a:extLst>
              <a:ext uri="{FF2B5EF4-FFF2-40B4-BE49-F238E27FC236}">
                <a16:creationId xmlns:a16="http://schemas.microsoft.com/office/drawing/2014/main" id="{12BB05AD-43C4-40BF-BB16-3DD998746A5C}"/>
              </a:ext>
            </a:extLst>
          </p:cNvPr>
          <p:cNvSpPr>
            <a:spLocks noGrp="1"/>
          </p:cNvSpPr>
          <p:nvPr/>
        </p:nvSpPr>
        <p:spPr>
          <a:xfrm>
            <a:off x="1238250" y="1714500"/>
            <a:ext cx="3429000" cy="109537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Open a completed result and follow its source evidence.</a:t>
            </a:r>
          </a:p>
        </p:txBody>
      </p:sp>
      <p:sp>
        <p:nvSpPr>
          <p:cNvPr id="5" name="Rectangle 4">
            <a:extLst>
              <a:ext uri="{FF2B5EF4-FFF2-40B4-BE49-F238E27FC236}">
                <a16:creationId xmlns:a16="http://schemas.microsoft.com/office/drawing/2014/main" id="{1C1C5933-9203-4388-B906-7EFC127C572A}"/>
              </a:ext>
            </a:extLst>
          </p:cNvPr>
          <p:cNvSpPr>
            <a:spLocks noGrp="1"/>
          </p:cNvSpPr>
          <p:nvPr/>
        </p:nvSpPr>
        <p:spPr>
          <a:xfrm>
            <a:off x="609600" y="3095625"/>
            <a:ext cx="495300" cy="400050"/>
          </a:xfrm>
          <a:prstGeom prst="rect">
            <a:avLst/>
          </a:prstGeom>
          <a:noFill/>
          <a:ln w="0">
            <a:noFill/>
          </a:ln>
        </p:spPr>
        <p:txBody>
          <a:bodyPr/>
          <a:lstStyle>
            <a:defPPr>
              <a:defRPr sz="1875" b="1">
                <a:solidFill>
                  <a:srgbClr val="13694E"/>
                </a:solidFill>
                <a:latin typeface="Arial"/>
                <a:ea typeface="Arial"/>
                <a:cs typeface="Arial"/>
              </a:defRPr>
            </a:defPPr>
          </a:lstStyle>
          <a:p>
            <a:pPr>
              <a:defRPr sz="1875" b="1">
                <a:solidFill>
                  <a:srgbClr val="13694E"/>
                </a:solidFill>
                <a:latin typeface="Arial"/>
                <a:ea typeface="Arial"/>
                <a:cs typeface="Arial"/>
              </a:defRPr>
            </a:pPr>
            <a:r>
              <a:rPr sz="1875" b="1">
                <a:solidFill>
                  <a:srgbClr val="13694E"/>
                </a:solidFill>
                <a:latin typeface="Arial"/>
                <a:ea typeface="Arial"/>
                <a:cs typeface="Arial"/>
              </a:rPr>
              <a:t>02</a:t>
            </a:r>
          </a:p>
        </p:txBody>
      </p:sp>
      <p:sp>
        <p:nvSpPr>
          <p:cNvPr id="6" name="Rectangle 5">
            <a:extLst>
              <a:ext uri="{FF2B5EF4-FFF2-40B4-BE49-F238E27FC236}">
                <a16:creationId xmlns:a16="http://schemas.microsoft.com/office/drawing/2014/main" id="{CCD4B900-F14F-48FA-A941-1C51D5D3793E}"/>
              </a:ext>
            </a:extLst>
          </p:cNvPr>
          <p:cNvSpPr>
            <a:spLocks noGrp="1"/>
          </p:cNvSpPr>
          <p:nvPr/>
        </p:nvSpPr>
        <p:spPr>
          <a:xfrm>
            <a:off x="1238250" y="3095625"/>
            <a:ext cx="3429000" cy="109537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Compare the submitted headline with the source article title.</a:t>
            </a:r>
          </a:p>
        </p:txBody>
      </p:sp>
      <p:sp>
        <p:nvSpPr>
          <p:cNvPr id="7" name="Rectangle 6">
            <a:extLst>
              <a:ext uri="{FF2B5EF4-FFF2-40B4-BE49-F238E27FC236}">
                <a16:creationId xmlns:a16="http://schemas.microsoft.com/office/drawing/2014/main" id="{288C456E-D902-49B3-A198-8E3111812E50}"/>
              </a:ext>
            </a:extLst>
          </p:cNvPr>
          <p:cNvSpPr>
            <a:spLocks noGrp="1"/>
          </p:cNvSpPr>
          <p:nvPr/>
        </p:nvSpPr>
        <p:spPr>
          <a:xfrm>
            <a:off x="609600" y="4476750"/>
            <a:ext cx="495300" cy="400050"/>
          </a:xfrm>
          <a:prstGeom prst="rect">
            <a:avLst/>
          </a:prstGeom>
          <a:noFill/>
          <a:ln w="0">
            <a:noFill/>
          </a:ln>
        </p:spPr>
        <p:txBody>
          <a:bodyPr/>
          <a:lstStyle>
            <a:defPPr>
              <a:defRPr sz="1875" b="1">
                <a:solidFill>
                  <a:srgbClr val="13694E"/>
                </a:solidFill>
                <a:latin typeface="Arial"/>
                <a:ea typeface="Arial"/>
                <a:cs typeface="Arial"/>
              </a:defRPr>
            </a:defPPr>
          </a:lstStyle>
          <a:p>
            <a:pPr>
              <a:defRPr sz="1875" b="1">
                <a:solidFill>
                  <a:srgbClr val="13694E"/>
                </a:solidFill>
                <a:latin typeface="Arial"/>
                <a:ea typeface="Arial"/>
                <a:cs typeface="Arial"/>
              </a:defRPr>
            </a:pPr>
            <a:r>
              <a:rPr sz="1875" b="1">
                <a:solidFill>
                  <a:srgbClr val="13694E"/>
                </a:solidFill>
                <a:latin typeface="Arial"/>
                <a:ea typeface="Arial"/>
                <a:cs typeface="Arial"/>
              </a:rPr>
              <a:t>03</a:t>
            </a:r>
          </a:p>
        </p:txBody>
      </p:sp>
      <p:sp>
        <p:nvSpPr>
          <p:cNvPr id="8" name="Rectangle 7">
            <a:extLst>
              <a:ext uri="{FF2B5EF4-FFF2-40B4-BE49-F238E27FC236}">
                <a16:creationId xmlns:a16="http://schemas.microsoft.com/office/drawing/2014/main" id="{C5F53320-51DB-41F0-B4B2-2674BAF7A057}"/>
              </a:ext>
            </a:extLst>
          </p:cNvPr>
          <p:cNvSpPr>
            <a:spLocks noGrp="1"/>
          </p:cNvSpPr>
          <p:nvPr/>
        </p:nvSpPr>
        <p:spPr>
          <a:xfrm>
            <a:off x="1238250" y="4476750"/>
            <a:ext cx="3429000" cy="109537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Explain the finding and the separate expert-review status.</a:t>
            </a:r>
          </a:p>
        </p:txBody>
      </p:sp>
      <p:pic>
        <p:nvPicPr>
          <p:cNvPr id="9" name="Picture 8">
            <a:extLst>
              <a:ext uri="{FF2B5EF4-FFF2-40B4-BE49-F238E27FC236}">
                <a16:creationId xmlns:a16="http://schemas.microsoft.com/office/drawing/2014/main" id="{AC519226-A403-4586-81C7-E40AF21C57BC}"/>
              </a:ext>
            </a:extLst>
          </p:cNvPr>
          <p:cNvPicPr>
            <a:picLocks noChangeAspect="1"/>
          </p:cNvPicPr>
          <p:nvPr/>
        </p:nvPicPr>
        <p:blipFill>
          <a:blip r:embed="rId3"/>
          <a:stretch/>
        </p:blipFill>
        <p:spPr>
          <a:xfrm>
            <a:off x="5000625" y="1684734"/>
            <a:ext cx="6572250" cy="4107656"/>
          </a:xfrm>
          <a:prstGeom prst="rect">
            <a:avLst/>
          </a:prstGeom>
        </p:spPr>
      </p:pic>
    </p:spTree>
    <p:extLst>
      <p:ext uri="{BB962C8B-B14F-4D97-AF65-F5344CB8AC3E}">
        <p14:creationId xmlns:p14="http://schemas.microsoft.com/office/powerpoint/2010/main" val="1216309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8D6F07E-BBE7-48D4-90AA-C13A62D9B858}"/>
              </a:ext>
            </a:extLst>
          </p:cNvPr>
          <p:cNvSpPr>
            <a:spLocks noGrp="1"/>
          </p:cNvSpPr>
          <p:nvPr/>
        </p:nvSpPr>
        <p:spPr>
          <a:xfrm>
            <a:off x="609600" y="428625"/>
            <a:ext cx="10972800" cy="742950"/>
          </a:xfrm>
          <a:prstGeom prst="rect">
            <a:avLst/>
          </a:prstGeom>
          <a:noFill/>
          <a:ln w="0">
            <a:noFill/>
          </a:ln>
        </p:spPr>
        <p:txBody>
          <a:bodyPr/>
          <a:lstStyle>
            <a:defPPr>
              <a:defRPr sz="3300" b="1">
                <a:solidFill>
                  <a:srgbClr val="183C33"/>
                </a:solidFill>
                <a:latin typeface="Arial"/>
                <a:ea typeface="Arial"/>
                <a:cs typeface="Arial"/>
              </a:defRPr>
            </a:defPPr>
          </a:lstStyle>
          <a:p>
            <a:pPr>
              <a:defRPr sz="3300" b="1">
                <a:solidFill>
                  <a:srgbClr val="183C33"/>
                </a:solidFill>
                <a:latin typeface="Arial"/>
                <a:ea typeface="Arial"/>
                <a:cs typeface="Arial"/>
              </a:defRPr>
            </a:pPr>
            <a:r>
              <a:rPr sz="3300" b="1">
                <a:solidFill>
                  <a:srgbClr val="183C33"/>
                </a:solidFill>
                <a:latin typeface="Arial"/>
                <a:ea typeface="Arial"/>
                <a:cs typeface="Arial"/>
              </a:rPr>
              <a:t>Demonstration: photo card</a:t>
            </a:r>
          </a:p>
        </p:txBody>
      </p:sp>
      <p:sp>
        <p:nvSpPr>
          <p:cNvPr id="2" name="Rectangle 1">
            <a:extLst>
              <a:ext uri="{FF2B5EF4-FFF2-40B4-BE49-F238E27FC236}">
                <a16:creationId xmlns:a16="http://schemas.microsoft.com/office/drawing/2014/main" id="{E6CFCF1C-A5BE-474F-85B0-CC0227A57128}"/>
              </a:ext>
            </a:extLst>
          </p:cNvPr>
          <p:cNvSpPr>
            <a:spLocks noGrp="1"/>
          </p:cNvSpPr>
          <p:nvPr/>
        </p:nvSpPr>
        <p:spPr>
          <a:xfrm>
            <a:off x="11049000" y="6305550"/>
            <a:ext cx="523875" cy="228600"/>
          </a:xfrm>
          <a:prstGeom prst="rect">
            <a:avLst/>
          </a:prstGeom>
          <a:noFill/>
          <a:ln w="0">
            <a:noFill/>
          </a:ln>
        </p:spPr>
        <p:txBody>
          <a:bodyPr/>
          <a:lstStyle>
            <a:defPPr>
              <a:defRPr sz="1275" b="0">
                <a:solidFill>
                  <a:srgbClr val="6B8078"/>
                </a:solidFill>
                <a:latin typeface="Arial"/>
                <a:ea typeface="Arial"/>
                <a:cs typeface="Arial"/>
              </a:defRPr>
            </a:defPPr>
          </a:lstStyle>
          <a:p>
            <a:pPr>
              <a:defRPr sz="1275" b="0">
                <a:solidFill>
                  <a:srgbClr val="6B8078"/>
                </a:solidFill>
                <a:latin typeface="Arial"/>
                <a:ea typeface="Arial"/>
                <a:cs typeface="Arial"/>
              </a:defRPr>
            </a:pPr>
            <a:r>
              <a:rPr sz="1275" b="0">
                <a:solidFill>
                  <a:srgbClr val="6B8078"/>
                </a:solidFill>
                <a:latin typeface="Arial"/>
                <a:ea typeface="Arial"/>
                <a:cs typeface="Arial"/>
              </a:rPr>
              <a:t>13</a:t>
            </a:r>
          </a:p>
        </p:txBody>
      </p:sp>
      <p:sp>
        <p:nvSpPr>
          <p:cNvPr id="3" name="Rectangle 2">
            <a:extLst>
              <a:ext uri="{FF2B5EF4-FFF2-40B4-BE49-F238E27FC236}">
                <a16:creationId xmlns:a16="http://schemas.microsoft.com/office/drawing/2014/main" id="{4397740F-5079-474C-B6F8-638039849042}"/>
              </a:ext>
            </a:extLst>
          </p:cNvPr>
          <p:cNvSpPr>
            <a:spLocks noGrp="1"/>
          </p:cNvSpPr>
          <p:nvPr/>
        </p:nvSpPr>
        <p:spPr>
          <a:xfrm>
            <a:off x="609600" y="1714500"/>
            <a:ext cx="495300" cy="400050"/>
          </a:xfrm>
          <a:prstGeom prst="rect">
            <a:avLst/>
          </a:prstGeom>
          <a:noFill/>
          <a:ln w="0">
            <a:noFill/>
          </a:ln>
        </p:spPr>
        <p:txBody>
          <a:bodyPr/>
          <a:lstStyle>
            <a:defPPr>
              <a:defRPr sz="1875" b="1">
                <a:solidFill>
                  <a:srgbClr val="13694E"/>
                </a:solidFill>
                <a:latin typeface="Arial"/>
                <a:ea typeface="Arial"/>
                <a:cs typeface="Arial"/>
              </a:defRPr>
            </a:defPPr>
          </a:lstStyle>
          <a:p>
            <a:pPr>
              <a:defRPr sz="1875" b="1">
                <a:solidFill>
                  <a:srgbClr val="13694E"/>
                </a:solidFill>
                <a:latin typeface="Arial"/>
                <a:ea typeface="Arial"/>
                <a:cs typeface="Arial"/>
              </a:defRPr>
            </a:pPr>
            <a:r>
              <a:rPr sz="1875" b="1">
                <a:solidFill>
                  <a:srgbClr val="13694E"/>
                </a:solidFill>
                <a:latin typeface="Arial"/>
                <a:ea typeface="Arial"/>
                <a:cs typeface="Arial"/>
              </a:rPr>
              <a:t>01</a:t>
            </a:r>
          </a:p>
        </p:txBody>
      </p:sp>
      <p:sp>
        <p:nvSpPr>
          <p:cNvPr id="4" name="Rectangle 3">
            <a:extLst>
              <a:ext uri="{FF2B5EF4-FFF2-40B4-BE49-F238E27FC236}">
                <a16:creationId xmlns:a16="http://schemas.microsoft.com/office/drawing/2014/main" id="{9ADB55B9-524A-4A12-B52F-315C984B05C1}"/>
              </a:ext>
            </a:extLst>
          </p:cNvPr>
          <p:cNvSpPr>
            <a:spLocks noGrp="1"/>
          </p:cNvSpPr>
          <p:nvPr/>
        </p:nvSpPr>
        <p:spPr>
          <a:xfrm>
            <a:off x="1238250" y="1714500"/>
            <a:ext cx="3429000" cy="109537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Upload a prepared Bangla news photocard.</a:t>
            </a:r>
          </a:p>
        </p:txBody>
      </p:sp>
      <p:sp>
        <p:nvSpPr>
          <p:cNvPr id="5" name="Rectangle 4">
            <a:extLst>
              <a:ext uri="{FF2B5EF4-FFF2-40B4-BE49-F238E27FC236}">
                <a16:creationId xmlns:a16="http://schemas.microsoft.com/office/drawing/2014/main" id="{186193A7-A631-4486-96DC-D5C1A700AD77}"/>
              </a:ext>
            </a:extLst>
          </p:cNvPr>
          <p:cNvSpPr>
            <a:spLocks noGrp="1"/>
          </p:cNvSpPr>
          <p:nvPr/>
        </p:nvSpPr>
        <p:spPr>
          <a:xfrm>
            <a:off x="609600" y="3095625"/>
            <a:ext cx="495300" cy="400050"/>
          </a:xfrm>
          <a:prstGeom prst="rect">
            <a:avLst/>
          </a:prstGeom>
          <a:noFill/>
          <a:ln w="0">
            <a:noFill/>
          </a:ln>
        </p:spPr>
        <p:txBody>
          <a:bodyPr/>
          <a:lstStyle>
            <a:defPPr>
              <a:defRPr sz="1875" b="1">
                <a:solidFill>
                  <a:srgbClr val="13694E"/>
                </a:solidFill>
                <a:latin typeface="Arial"/>
                <a:ea typeface="Arial"/>
                <a:cs typeface="Arial"/>
              </a:defRPr>
            </a:defPPr>
          </a:lstStyle>
          <a:p>
            <a:pPr>
              <a:defRPr sz="1875" b="1">
                <a:solidFill>
                  <a:srgbClr val="13694E"/>
                </a:solidFill>
                <a:latin typeface="Arial"/>
                <a:ea typeface="Arial"/>
                <a:cs typeface="Arial"/>
              </a:defRPr>
            </a:pPr>
            <a:r>
              <a:rPr sz="1875" b="1">
                <a:solidFill>
                  <a:srgbClr val="13694E"/>
                </a:solidFill>
                <a:latin typeface="Arial"/>
                <a:ea typeface="Arial"/>
                <a:cs typeface="Arial"/>
              </a:rPr>
              <a:t>02</a:t>
            </a:r>
          </a:p>
        </p:txBody>
      </p:sp>
      <p:sp>
        <p:nvSpPr>
          <p:cNvPr id="6" name="Rectangle 5">
            <a:extLst>
              <a:ext uri="{FF2B5EF4-FFF2-40B4-BE49-F238E27FC236}">
                <a16:creationId xmlns:a16="http://schemas.microsoft.com/office/drawing/2014/main" id="{E2DBB209-B81A-430B-9355-A4FDE88C57F7}"/>
              </a:ext>
            </a:extLst>
          </p:cNvPr>
          <p:cNvSpPr>
            <a:spLocks noGrp="1"/>
          </p:cNvSpPr>
          <p:nvPr/>
        </p:nvSpPr>
        <p:spPr>
          <a:xfrm>
            <a:off x="1238250" y="3095625"/>
            <a:ext cx="3429000" cy="109537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Review the preview and submit the image for checking.</a:t>
            </a:r>
          </a:p>
        </p:txBody>
      </p:sp>
      <p:sp>
        <p:nvSpPr>
          <p:cNvPr id="7" name="Rectangle 6">
            <a:extLst>
              <a:ext uri="{FF2B5EF4-FFF2-40B4-BE49-F238E27FC236}">
                <a16:creationId xmlns:a16="http://schemas.microsoft.com/office/drawing/2014/main" id="{06354AA1-C0C0-4BD7-AA18-81FA18B6D054}"/>
              </a:ext>
            </a:extLst>
          </p:cNvPr>
          <p:cNvSpPr>
            <a:spLocks noGrp="1"/>
          </p:cNvSpPr>
          <p:nvPr/>
        </p:nvSpPr>
        <p:spPr>
          <a:xfrm>
            <a:off x="609600" y="4476750"/>
            <a:ext cx="495300" cy="400050"/>
          </a:xfrm>
          <a:prstGeom prst="rect">
            <a:avLst/>
          </a:prstGeom>
          <a:noFill/>
          <a:ln w="0">
            <a:noFill/>
          </a:ln>
        </p:spPr>
        <p:txBody>
          <a:bodyPr/>
          <a:lstStyle>
            <a:defPPr>
              <a:defRPr sz="1875" b="1">
                <a:solidFill>
                  <a:srgbClr val="13694E"/>
                </a:solidFill>
                <a:latin typeface="Arial"/>
                <a:ea typeface="Arial"/>
                <a:cs typeface="Arial"/>
              </a:defRPr>
            </a:defPPr>
          </a:lstStyle>
          <a:p>
            <a:pPr>
              <a:defRPr sz="1875" b="1">
                <a:solidFill>
                  <a:srgbClr val="13694E"/>
                </a:solidFill>
                <a:latin typeface="Arial"/>
                <a:ea typeface="Arial"/>
                <a:cs typeface="Arial"/>
              </a:defRPr>
            </a:pPr>
            <a:r>
              <a:rPr sz="1875" b="1">
                <a:solidFill>
                  <a:srgbClr val="13694E"/>
                </a:solidFill>
                <a:latin typeface="Arial"/>
                <a:ea typeface="Arial"/>
                <a:cs typeface="Arial"/>
              </a:rPr>
              <a:t>03</a:t>
            </a:r>
          </a:p>
        </p:txBody>
      </p:sp>
      <p:sp>
        <p:nvSpPr>
          <p:cNvPr id="8" name="Rectangle 7">
            <a:extLst>
              <a:ext uri="{FF2B5EF4-FFF2-40B4-BE49-F238E27FC236}">
                <a16:creationId xmlns:a16="http://schemas.microsoft.com/office/drawing/2014/main" id="{C2BE2966-E550-4A63-AB3F-4DDFEB958AA0}"/>
              </a:ext>
            </a:extLst>
          </p:cNvPr>
          <p:cNvSpPr>
            <a:spLocks noGrp="1"/>
          </p:cNvSpPr>
          <p:nvPr/>
        </p:nvSpPr>
        <p:spPr>
          <a:xfrm>
            <a:off x="1238250" y="4476750"/>
            <a:ext cx="3429000" cy="109537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Show the extracted claim and available source, headline and date findings.</a:t>
            </a:r>
          </a:p>
        </p:txBody>
      </p:sp>
      <p:pic>
        <p:nvPicPr>
          <p:cNvPr id="9" name="Picture 8">
            <a:extLst>
              <a:ext uri="{FF2B5EF4-FFF2-40B4-BE49-F238E27FC236}">
                <a16:creationId xmlns:a16="http://schemas.microsoft.com/office/drawing/2014/main" id="{1245A3B2-B9F3-4611-8BFB-8C85CC10D520}"/>
              </a:ext>
            </a:extLst>
          </p:cNvPr>
          <p:cNvPicPr>
            <a:picLocks noChangeAspect="1"/>
          </p:cNvPicPr>
          <p:nvPr/>
        </p:nvPicPr>
        <p:blipFill>
          <a:blip r:embed="rId3"/>
          <a:stretch/>
        </p:blipFill>
        <p:spPr>
          <a:xfrm>
            <a:off x="5868865" y="1381125"/>
            <a:ext cx="4835769" cy="4714875"/>
          </a:xfrm>
          <a:prstGeom prst="rect">
            <a:avLst/>
          </a:prstGeom>
        </p:spPr>
      </p:pic>
    </p:spTree>
    <p:extLst>
      <p:ext uri="{BB962C8B-B14F-4D97-AF65-F5344CB8AC3E}">
        <p14:creationId xmlns:p14="http://schemas.microsoft.com/office/powerpoint/2010/main" val="1902697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25158CE-DDE1-48A4-A96C-598F0720987E}"/>
              </a:ext>
            </a:extLst>
          </p:cNvPr>
          <p:cNvSpPr>
            <a:spLocks noGrp="1"/>
          </p:cNvSpPr>
          <p:nvPr/>
        </p:nvSpPr>
        <p:spPr>
          <a:xfrm>
            <a:off x="609600" y="428625"/>
            <a:ext cx="10972800" cy="742950"/>
          </a:xfrm>
          <a:prstGeom prst="rect">
            <a:avLst/>
          </a:prstGeom>
          <a:noFill/>
          <a:ln w="0">
            <a:noFill/>
          </a:ln>
        </p:spPr>
        <p:txBody>
          <a:bodyPr/>
          <a:lstStyle>
            <a:defPPr>
              <a:defRPr sz="3300" b="1">
                <a:solidFill>
                  <a:srgbClr val="183C33"/>
                </a:solidFill>
                <a:latin typeface="Arial"/>
                <a:ea typeface="Arial"/>
                <a:cs typeface="Arial"/>
              </a:defRPr>
            </a:defPPr>
          </a:lstStyle>
          <a:p>
            <a:pPr>
              <a:defRPr sz="3300" b="1">
                <a:solidFill>
                  <a:srgbClr val="183C33"/>
                </a:solidFill>
                <a:latin typeface="Arial"/>
                <a:ea typeface="Arial"/>
                <a:cs typeface="Arial"/>
              </a:defRPr>
            </a:pPr>
            <a:r>
              <a:rPr sz="3300" b="1">
                <a:solidFill>
                  <a:srgbClr val="183C33"/>
                </a:solidFill>
                <a:latin typeface="Arial"/>
                <a:ea typeface="Arial"/>
                <a:cs typeface="Arial"/>
              </a:rPr>
              <a:t>Demonstration: Chrome extension</a:t>
            </a:r>
          </a:p>
        </p:txBody>
      </p:sp>
      <p:sp>
        <p:nvSpPr>
          <p:cNvPr id="2" name="Rectangle 1">
            <a:extLst>
              <a:ext uri="{FF2B5EF4-FFF2-40B4-BE49-F238E27FC236}">
                <a16:creationId xmlns:a16="http://schemas.microsoft.com/office/drawing/2014/main" id="{40AC1B6B-C86E-4B4D-81E7-E6FE76B9000B}"/>
              </a:ext>
            </a:extLst>
          </p:cNvPr>
          <p:cNvSpPr>
            <a:spLocks noGrp="1"/>
          </p:cNvSpPr>
          <p:nvPr/>
        </p:nvSpPr>
        <p:spPr>
          <a:xfrm>
            <a:off x="11049000" y="6305550"/>
            <a:ext cx="523875" cy="228600"/>
          </a:xfrm>
          <a:prstGeom prst="rect">
            <a:avLst/>
          </a:prstGeom>
          <a:noFill/>
          <a:ln w="0">
            <a:noFill/>
          </a:ln>
        </p:spPr>
        <p:txBody>
          <a:bodyPr/>
          <a:lstStyle>
            <a:defPPr>
              <a:defRPr sz="1275" b="0">
                <a:solidFill>
                  <a:srgbClr val="6B8078"/>
                </a:solidFill>
                <a:latin typeface="Arial"/>
                <a:ea typeface="Arial"/>
                <a:cs typeface="Arial"/>
              </a:defRPr>
            </a:defPPr>
          </a:lstStyle>
          <a:p>
            <a:pPr>
              <a:defRPr sz="1275" b="0">
                <a:solidFill>
                  <a:srgbClr val="6B8078"/>
                </a:solidFill>
                <a:latin typeface="Arial"/>
                <a:ea typeface="Arial"/>
                <a:cs typeface="Arial"/>
              </a:defRPr>
            </a:pPr>
            <a:r>
              <a:rPr sz="1275" b="0">
                <a:solidFill>
                  <a:srgbClr val="6B8078"/>
                </a:solidFill>
                <a:latin typeface="Arial"/>
                <a:ea typeface="Arial"/>
                <a:cs typeface="Arial"/>
              </a:rPr>
              <a:t>14</a:t>
            </a:r>
          </a:p>
        </p:txBody>
      </p:sp>
      <p:pic>
        <p:nvPicPr>
          <p:cNvPr id="3" name="Picture 2">
            <a:extLst>
              <a:ext uri="{FF2B5EF4-FFF2-40B4-BE49-F238E27FC236}">
                <a16:creationId xmlns:a16="http://schemas.microsoft.com/office/drawing/2014/main" id="{FCCAE753-F48B-4FB3-9D71-637496693180}"/>
              </a:ext>
            </a:extLst>
          </p:cNvPr>
          <p:cNvPicPr>
            <a:picLocks noChangeAspect="1"/>
          </p:cNvPicPr>
          <p:nvPr/>
        </p:nvPicPr>
        <p:blipFill>
          <a:blip r:embed="rId3"/>
          <a:stretch/>
        </p:blipFill>
        <p:spPr>
          <a:xfrm>
            <a:off x="725080" y="1409700"/>
            <a:ext cx="6884216" cy="4810125"/>
          </a:xfrm>
          <a:prstGeom prst="rect">
            <a:avLst/>
          </a:prstGeom>
        </p:spPr>
      </p:pic>
      <p:sp>
        <p:nvSpPr>
          <p:cNvPr id="4" name="Rectangle 3">
            <a:extLst>
              <a:ext uri="{FF2B5EF4-FFF2-40B4-BE49-F238E27FC236}">
                <a16:creationId xmlns:a16="http://schemas.microsoft.com/office/drawing/2014/main" id="{0E4080C1-D32A-43AB-8F9C-A65A63698334}"/>
              </a:ext>
            </a:extLst>
          </p:cNvPr>
          <p:cNvSpPr>
            <a:spLocks noGrp="1"/>
          </p:cNvSpPr>
          <p:nvPr/>
        </p:nvSpPr>
        <p:spPr>
          <a:xfrm>
            <a:off x="8143875" y="1685925"/>
            <a:ext cx="3333750" cy="762000"/>
          </a:xfrm>
          <a:prstGeom prst="rect">
            <a:avLst/>
          </a:prstGeom>
          <a:noFill/>
          <a:ln w="0">
            <a:noFill/>
          </a:ln>
        </p:spPr>
        <p:txBody>
          <a:bodyPr/>
          <a:lstStyle>
            <a:defPPr>
              <a:defRPr sz="2325" b="1">
                <a:solidFill>
                  <a:srgbClr val="13694E"/>
                </a:solidFill>
                <a:latin typeface="Arial"/>
                <a:ea typeface="Arial"/>
                <a:cs typeface="Arial"/>
              </a:defRPr>
            </a:defPPr>
          </a:lstStyle>
          <a:p>
            <a:pPr>
              <a:defRPr sz="2325" b="1">
                <a:solidFill>
                  <a:srgbClr val="13694E"/>
                </a:solidFill>
                <a:latin typeface="Arial"/>
                <a:ea typeface="Arial"/>
                <a:cs typeface="Arial"/>
              </a:defRPr>
            </a:pPr>
            <a:r>
              <a:rPr sz="2325" b="1">
                <a:solidFill>
                  <a:srgbClr val="13694E"/>
                </a:solidFill>
                <a:latin typeface="Arial"/>
                <a:ea typeface="Arial"/>
                <a:cs typeface="Arial"/>
              </a:rPr>
              <a:t>Verify while browsing</a:t>
            </a:r>
          </a:p>
        </p:txBody>
      </p:sp>
      <p:sp>
        <p:nvSpPr>
          <p:cNvPr id="5" name="Rectangle 4">
            <a:extLst>
              <a:ext uri="{FF2B5EF4-FFF2-40B4-BE49-F238E27FC236}">
                <a16:creationId xmlns:a16="http://schemas.microsoft.com/office/drawing/2014/main" id="{3E6D1AA6-2873-4FD7-8CAE-708DB412BA8C}"/>
              </a:ext>
            </a:extLst>
          </p:cNvPr>
          <p:cNvSpPr>
            <a:spLocks noGrp="1"/>
          </p:cNvSpPr>
          <p:nvPr/>
        </p:nvSpPr>
        <p:spPr>
          <a:xfrm>
            <a:off x="8143875" y="2676525"/>
            <a:ext cx="3333750" cy="3286125"/>
          </a:xfrm>
          <a:prstGeom prst="rect">
            <a:avLst/>
          </a:prstGeom>
          <a:noFill/>
          <a:ln w="0">
            <a:noFill/>
          </a:ln>
        </p:spPr>
        <p:txBody>
          <a:bodyPr/>
          <a:lstStyle>
            <a:defPPr>
              <a:defRPr sz="2025" b="0">
                <a:solidFill>
                  <a:srgbClr val="183C33"/>
                </a:solidFill>
                <a:latin typeface="Arial"/>
                <a:ea typeface="Arial"/>
                <a:cs typeface="Arial"/>
              </a:defRPr>
            </a:defPPr>
          </a:lstStyle>
          <a:p>
            <a:pPr>
              <a:defRPr sz="2025" b="0">
                <a:solidFill>
                  <a:srgbClr val="183C33"/>
                </a:solidFill>
                <a:latin typeface="Arial"/>
                <a:ea typeface="Arial"/>
                <a:cs typeface="Arial"/>
              </a:defRPr>
            </a:pPr>
            <a:r>
              <a:rPr sz="2025" b="0">
                <a:solidFill>
                  <a:srgbClr val="183C33"/>
                </a:solidFill>
                <a:latin typeface="Arial"/>
                <a:ea typeface="Arial"/>
                <a:cs typeface="Arial"/>
              </a:rPr>
              <a:t>Import selected text</a:t>
            </a:r>
          </a:p>
          <a:p>
            <a:endParaRPr sz="2025" b="0">
              <a:solidFill>
                <a:srgbClr val="183C33"/>
              </a:solidFill>
              <a:latin typeface="Arial"/>
              <a:ea typeface="Arial"/>
              <a:cs typeface="Arial"/>
            </a:endParaRPr>
          </a:p>
          <a:p>
            <a:pPr>
              <a:defRPr sz="2025" b="0">
                <a:solidFill>
                  <a:srgbClr val="183C33"/>
                </a:solidFill>
                <a:latin typeface="Arial"/>
                <a:ea typeface="Arial"/>
                <a:cs typeface="Arial"/>
              </a:defRPr>
            </a:pPr>
            <a:r>
              <a:rPr sz="2025" b="0">
                <a:solidFill>
                  <a:srgbClr val="183C33"/>
                </a:solidFill>
                <a:latin typeface="Arial"/>
                <a:ea typeface="Arial"/>
                <a:cs typeface="Arial"/>
              </a:rPr>
              <a:t>Capture a selected image area</a:t>
            </a:r>
          </a:p>
          <a:p>
            <a:endParaRPr sz="2025" b="0">
              <a:solidFill>
                <a:srgbClr val="183C33"/>
              </a:solidFill>
              <a:latin typeface="Arial"/>
              <a:ea typeface="Arial"/>
              <a:cs typeface="Arial"/>
            </a:endParaRPr>
          </a:p>
          <a:p>
            <a:pPr>
              <a:defRPr sz="2025" b="0">
                <a:solidFill>
                  <a:srgbClr val="183C33"/>
                </a:solidFill>
                <a:latin typeface="Arial"/>
                <a:ea typeface="Arial"/>
                <a:cs typeface="Arial"/>
              </a:defRPr>
            </a:pPr>
            <a:r>
              <a:rPr sz="2025" b="0">
                <a:solidFill>
                  <a:srgbClr val="183C33"/>
                </a:solidFill>
                <a:latin typeface="Arial"/>
                <a:ea typeface="Arial"/>
                <a:cs typeface="Arial"/>
              </a:rPr>
              <a:t>Track results in Activity</a:t>
            </a:r>
          </a:p>
          <a:p>
            <a:endParaRPr sz="2025" b="0">
              <a:solidFill>
                <a:srgbClr val="183C33"/>
              </a:solidFill>
              <a:latin typeface="Arial"/>
              <a:ea typeface="Arial"/>
              <a:cs typeface="Arial"/>
            </a:endParaRPr>
          </a:p>
          <a:p>
            <a:pPr>
              <a:defRPr sz="2025" b="0">
                <a:solidFill>
                  <a:srgbClr val="183C33"/>
                </a:solidFill>
                <a:latin typeface="Arial"/>
                <a:ea typeface="Arial"/>
                <a:cs typeface="Arial"/>
              </a:defRPr>
            </a:pPr>
            <a:r>
              <a:rPr sz="2025" b="0">
                <a:solidFill>
                  <a:srgbClr val="183C33"/>
                </a:solidFill>
                <a:latin typeface="Arial"/>
                <a:ea typeface="Arial"/>
                <a:cs typeface="Arial"/>
              </a:rPr>
              <a:t>Open the full evidence report</a:t>
            </a:r>
          </a:p>
        </p:txBody>
      </p:sp>
    </p:spTree>
    <p:extLst>
      <p:ext uri="{BB962C8B-B14F-4D97-AF65-F5344CB8AC3E}">
        <p14:creationId xmlns:p14="http://schemas.microsoft.com/office/powerpoint/2010/main" val="551404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BD8B841-4E3C-41DE-A1BC-E8E7C8CEEE3E}"/>
              </a:ext>
            </a:extLst>
          </p:cNvPr>
          <p:cNvSpPr>
            <a:spLocks noGrp="1"/>
          </p:cNvSpPr>
          <p:nvPr/>
        </p:nvSpPr>
        <p:spPr>
          <a:xfrm>
            <a:off x="609600" y="428625"/>
            <a:ext cx="10972800" cy="742950"/>
          </a:xfrm>
          <a:prstGeom prst="rect">
            <a:avLst/>
          </a:prstGeom>
          <a:noFill/>
          <a:ln w="0">
            <a:noFill/>
          </a:ln>
        </p:spPr>
        <p:txBody>
          <a:bodyPr/>
          <a:lstStyle>
            <a:defPPr>
              <a:defRPr sz="3300" b="1">
                <a:solidFill>
                  <a:srgbClr val="183C33"/>
                </a:solidFill>
                <a:latin typeface="Arial"/>
                <a:ea typeface="Arial"/>
                <a:cs typeface="Arial"/>
              </a:defRPr>
            </a:defPPr>
          </a:lstStyle>
          <a:p>
            <a:pPr>
              <a:defRPr sz="3300" b="1">
                <a:solidFill>
                  <a:srgbClr val="183C33"/>
                </a:solidFill>
                <a:latin typeface="Arial"/>
                <a:ea typeface="Arial"/>
                <a:cs typeface="Arial"/>
              </a:defRPr>
            </a:pPr>
            <a:r>
              <a:rPr sz="3300" b="1">
                <a:solidFill>
                  <a:srgbClr val="183C33"/>
                </a:solidFill>
                <a:latin typeface="Arial"/>
                <a:ea typeface="Arial"/>
                <a:cs typeface="Arial"/>
              </a:rPr>
              <a:t>Demonstration: text and image</a:t>
            </a:r>
          </a:p>
        </p:txBody>
      </p:sp>
      <p:sp>
        <p:nvSpPr>
          <p:cNvPr id="2" name="Rectangle 1">
            <a:extLst>
              <a:ext uri="{FF2B5EF4-FFF2-40B4-BE49-F238E27FC236}">
                <a16:creationId xmlns:a16="http://schemas.microsoft.com/office/drawing/2014/main" id="{BEEC9DB6-64B2-4C13-B708-799FC92D8ED5}"/>
              </a:ext>
            </a:extLst>
          </p:cNvPr>
          <p:cNvSpPr>
            <a:spLocks noGrp="1"/>
          </p:cNvSpPr>
          <p:nvPr/>
        </p:nvSpPr>
        <p:spPr>
          <a:xfrm>
            <a:off x="11049000" y="6305550"/>
            <a:ext cx="523875" cy="228600"/>
          </a:xfrm>
          <a:prstGeom prst="rect">
            <a:avLst/>
          </a:prstGeom>
          <a:noFill/>
          <a:ln w="0">
            <a:noFill/>
          </a:ln>
        </p:spPr>
        <p:txBody>
          <a:bodyPr/>
          <a:lstStyle>
            <a:defPPr>
              <a:defRPr sz="1275" b="0">
                <a:solidFill>
                  <a:srgbClr val="6B8078"/>
                </a:solidFill>
                <a:latin typeface="Arial"/>
                <a:ea typeface="Arial"/>
                <a:cs typeface="Arial"/>
              </a:defRPr>
            </a:defPPr>
          </a:lstStyle>
          <a:p>
            <a:pPr>
              <a:defRPr sz="1275" b="0">
                <a:solidFill>
                  <a:srgbClr val="6B8078"/>
                </a:solidFill>
                <a:latin typeface="Arial"/>
                <a:ea typeface="Arial"/>
                <a:cs typeface="Arial"/>
              </a:defRPr>
            </a:pPr>
            <a:r>
              <a:rPr sz="1275" b="0">
                <a:solidFill>
                  <a:srgbClr val="6B8078"/>
                </a:solidFill>
                <a:latin typeface="Arial"/>
                <a:ea typeface="Arial"/>
                <a:cs typeface="Arial"/>
              </a:rPr>
              <a:t>15</a:t>
            </a:r>
          </a:p>
        </p:txBody>
      </p:sp>
      <p:sp>
        <p:nvSpPr>
          <p:cNvPr id="3" name="Rectangle 2">
            <a:extLst>
              <a:ext uri="{FF2B5EF4-FFF2-40B4-BE49-F238E27FC236}">
                <a16:creationId xmlns:a16="http://schemas.microsoft.com/office/drawing/2014/main" id="{AD50CCEA-B85A-443C-8449-D3271D698F01}"/>
              </a:ext>
            </a:extLst>
          </p:cNvPr>
          <p:cNvSpPr>
            <a:spLocks noGrp="1"/>
          </p:cNvSpPr>
          <p:nvPr/>
        </p:nvSpPr>
        <p:spPr>
          <a:xfrm>
            <a:off x="609600" y="1714500"/>
            <a:ext cx="495300" cy="400050"/>
          </a:xfrm>
          <a:prstGeom prst="rect">
            <a:avLst/>
          </a:prstGeom>
          <a:noFill/>
          <a:ln w="0">
            <a:noFill/>
          </a:ln>
        </p:spPr>
        <p:txBody>
          <a:bodyPr/>
          <a:lstStyle>
            <a:defPPr>
              <a:defRPr sz="1875" b="1">
                <a:solidFill>
                  <a:srgbClr val="13694E"/>
                </a:solidFill>
                <a:latin typeface="Arial"/>
                <a:ea typeface="Arial"/>
                <a:cs typeface="Arial"/>
              </a:defRPr>
            </a:defPPr>
          </a:lstStyle>
          <a:p>
            <a:pPr>
              <a:defRPr sz="1875" b="1">
                <a:solidFill>
                  <a:srgbClr val="13694E"/>
                </a:solidFill>
                <a:latin typeface="Arial"/>
                <a:ea typeface="Arial"/>
                <a:cs typeface="Arial"/>
              </a:defRPr>
            </a:pPr>
            <a:r>
              <a:rPr sz="1875" b="1">
                <a:solidFill>
                  <a:srgbClr val="13694E"/>
                </a:solidFill>
                <a:latin typeface="Arial"/>
                <a:ea typeface="Arial"/>
                <a:cs typeface="Arial"/>
              </a:rPr>
              <a:t>01</a:t>
            </a:r>
          </a:p>
        </p:txBody>
      </p:sp>
      <p:sp>
        <p:nvSpPr>
          <p:cNvPr id="4" name="Rectangle 3">
            <a:extLst>
              <a:ext uri="{FF2B5EF4-FFF2-40B4-BE49-F238E27FC236}">
                <a16:creationId xmlns:a16="http://schemas.microsoft.com/office/drawing/2014/main" id="{A3E2C8C9-1C39-405E-B4B1-C8D0CFE076BA}"/>
              </a:ext>
            </a:extLst>
          </p:cNvPr>
          <p:cNvSpPr>
            <a:spLocks noGrp="1"/>
          </p:cNvSpPr>
          <p:nvPr/>
        </p:nvSpPr>
        <p:spPr>
          <a:xfrm>
            <a:off x="1238250" y="1714500"/>
            <a:ext cx="3429000" cy="109537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Enter article text and upload the accompanying image.</a:t>
            </a:r>
          </a:p>
        </p:txBody>
      </p:sp>
      <p:sp>
        <p:nvSpPr>
          <p:cNvPr id="5" name="Rectangle 4">
            <a:extLst>
              <a:ext uri="{FF2B5EF4-FFF2-40B4-BE49-F238E27FC236}">
                <a16:creationId xmlns:a16="http://schemas.microsoft.com/office/drawing/2014/main" id="{6231BE73-F97D-4F34-8999-441BF4EEE207}"/>
              </a:ext>
            </a:extLst>
          </p:cNvPr>
          <p:cNvSpPr>
            <a:spLocks noGrp="1"/>
          </p:cNvSpPr>
          <p:nvPr/>
        </p:nvSpPr>
        <p:spPr>
          <a:xfrm>
            <a:off x="609600" y="3095625"/>
            <a:ext cx="495300" cy="400050"/>
          </a:xfrm>
          <a:prstGeom prst="rect">
            <a:avLst/>
          </a:prstGeom>
          <a:noFill/>
          <a:ln w="0">
            <a:noFill/>
          </a:ln>
        </p:spPr>
        <p:txBody>
          <a:bodyPr/>
          <a:lstStyle>
            <a:defPPr>
              <a:defRPr sz="1875" b="1">
                <a:solidFill>
                  <a:srgbClr val="13694E"/>
                </a:solidFill>
                <a:latin typeface="Arial"/>
                <a:ea typeface="Arial"/>
                <a:cs typeface="Arial"/>
              </a:defRPr>
            </a:defPPr>
          </a:lstStyle>
          <a:p>
            <a:pPr>
              <a:defRPr sz="1875" b="1">
                <a:solidFill>
                  <a:srgbClr val="13694E"/>
                </a:solidFill>
                <a:latin typeface="Arial"/>
                <a:ea typeface="Arial"/>
                <a:cs typeface="Arial"/>
              </a:defRPr>
            </a:pPr>
            <a:r>
              <a:rPr sz="1875" b="1">
                <a:solidFill>
                  <a:srgbClr val="13694E"/>
                </a:solidFill>
                <a:latin typeface="Arial"/>
                <a:ea typeface="Arial"/>
                <a:cs typeface="Arial"/>
              </a:rPr>
              <a:t>02</a:t>
            </a:r>
          </a:p>
        </p:txBody>
      </p:sp>
      <p:sp>
        <p:nvSpPr>
          <p:cNvPr id="6" name="Rectangle 5">
            <a:extLst>
              <a:ext uri="{FF2B5EF4-FFF2-40B4-BE49-F238E27FC236}">
                <a16:creationId xmlns:a16="http://schemas.microsoft.com/office/drawing/2014/main" id="{15AB8505-EB7E-4749-AF9F-9F7F84B419C6}"/>
              </a:ext>
            </a:extLst>
          </p:cNvPr>
          <p:cNvSpPr>
            <a:spLocks noGrp="1"/>
          </p:cNvSpPr>
          <p:nvPr/>
        </p:nvSpPr>
        <p:spPr>
          <a:xfrm>
            <a:off x="1238250" y="3095625"/>
            <a:ext cx="3429000" cy="109537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Show the preliminary Likely Real or Likely Fake assessment.</a:t>
            </a:r>
          </a:p>
        </p:txBody>
      </p:sp>
      <p:sp>
        <p:nvSpPr>
          <p:cNvPr id="7" name="Rectangle 6">
            <a:extLst>
              <a:ext uri="{FF2B5EF4-FFF2-40B4-BE49-F238E27FC236}">
                <a16:creationId xmlns:a16="http://schemas.microsoft.com/office/drawing/2014/main" id="{AA2DA7B6-C653-4EA2-8762-A3A066848BD0}"/>
              </a:ext>
            </a:extLst>
          </p:cNvPr>
          <p:cNvSpPr>
            <a:spLocks noGrp="1"/>
          </p:cNvSpPr>
          <p:nvPr/>
        </p:nvSpPr>
        <p:spPr>
          <a:xfrm>
            <a:off x="609600" y="4476750"/>
            <a:ext cx="495300" cy="400050"/>
          </a:xfrm>
          <a:prstGeom prst="rect">
            <a:avLst/>
          </a:prstGeom>
          <a:noFill/>
          <a:ln w="0">
            <a:noFill/>
          </a:ln>
        </p:spPr>
        <p:txBody>
          <a:bodyPr/>
          <a:lstStyle>
            <a:defPPr>
              <a:defRPr sz="1875" b="1">
                <a:solidFill>
                  <a:srgbClr val="13694E"/>
                </a:solidFill>
                <a:latin typeface="Arial"/>
                <a:ea typeface="Arial"/>
                <a:cs typeface="Arial"/>
              </a:defRPr>
            </a:defPPr>
          </a:lstStyle>
          <a:p>
            <a:pPr>
              <a:defRPr sz="1875" b="1">
                <a:solidFill>
                  <a:srgbClr val="13694E"/>
                </a:solidFill>
                <a:latin typeface="Arial"/>
                <a:ea typeface="Arial"/>
                <a:cs typeface="Arial"/>
              </a:defRPr>
            </a:pPr>
            <a:r>
              <a:rPr sz="1875" b="1">
                <a:solidFill>
                  <a:srgbClr val="13694E"/>
                </a:solidFill>
                <a:latin typeface="Arial"/>
                <a:ea typeface="Arial"/>
                <a:cs typeface="Arial"/>
              </a:rPr>
              <a:t>03</a:t>
            </a:r>
          </a:p>
        </p:txBody>
      </p:sp>
      <p:sp>
        <p:nvSpPr>
          <p:cNvPr id="8" name="Rectangle 7">
            <a:extLst>
              <a:ext uri="{FF2B5EF4-FFF2-40B4-BE49-F238E27FC236}">
                <a16:creationId xmlns:a16="http://schemas.microsoft.com/office/drawing/2014/main" id="{383C80DD-9953-4E6F-B558-D55616063199}"/>
              </a:ext>
            </a:extLst>
          </p:cNvPr>
          <p:cNvSpPr>
            <a:spLocks noGrp="1"/>
          </p:cNvSpPr>
          <p:nvPr/>
        </p:nvSpPr>
        <p:spPr>
          <a:xfrm>
            <a:off x="1238250" y="4476750"/>
            <a:ext cx="3429000" cy="1095375"/>
          </a:xfrm>
          <a:prstGeom prst="rect">
            <a:avLst/>
          </a:prstGeom>
          <a:noFill/>
          <a:ln w="0">
            <a:noFill/>
          </a:ln>
        </p:spPr>
        <p:txBody>
          <a:bodyPr/>
          <a:lstStyle>
            <a:defPPr>
              <a:defRPr sz="1950" b="0">
                <a:solidFill>
                  <a:srgbClr val="183C33"/>
                </a:solidFill>
                <a:latin typeface="Arial"/>
                <a:ea typeface="Arial"/>
                <a:cs typeface="Arial"/>
              </a:defRPr>
            </a:defPPr>
          </a:lstStyle>
          <a:p>
            <a:pPr>
              <a:defRPr sz="1950" b="0">
                <a:solidFill>
                  <a:srgbClr val="183C33"/>
                </a:solidFill>
                <a:latin typeface="Arial"/>
                <a:ea typeface="Arial"/>
                <a:cs typeface="Arial"/>
              </a:defRPr>
            </a:pPr>
            <a:r>
              <a:rPr sz="1950" b="0">
                <a:solidFill>
                  <a:srgbClr val="183C33"/>
                </a:solidFill>
                <a:latin typeface="Arial"/>
                <a:ea typeface="Arial"/>
                <a:cs typeface="Arial"/>
              </a:rPr>
              <a:t>Point out the review status and any reused-assessment notice.</a:t>
            </a:r>
          </a:p>
        </p:txBody>
      </p:sp>
      <p:pic>
        <p:nvPicPr>
          <p:cNvPr id="9" name="Picture 8">
            <a:extLst>
              <a:ext uri="{FF2B5EF4-FFF2-40B4-BE49-F238E27FC236}">
                <a16:creationId xmlns:a16="http://schemas.microsoft.com/office/drawing/2014/main" id="{CAC60CBA-7AFF-4977-AD38-657928AE2901}"/>
              </a:ext>
            </a:extLst>
          </p:cNvPr>
          <p:cNvPicPr>
            <a:picLocks noChangeAspect="1"/>
          </p:cNvPicPr>
          <p:nvPr/>
        </p:nvPicPr>
        <p:blipFill>
          <a:blip r:embed="rId3"/>
          <a:stretch/>
        </p:blipFill>
        <p:spPr>
          <a:xfrm>
            <a:off x="5385288" y="1381125"/>
            <a:ext cx="5802923" cy="4714875"/>
          </a:xfrm>
          <a:prstGeom prst="rect">
            <a:avLst/>
          </a:prstGeom>
        </p:spPr>
      </p:pic>
    </p:spTree>
    <p:extLst>
      <p:ext uri="{BB962C8B-B14F-4D97-AF65-F5344CB8AC3E}">
        <p14:creationId xmlns:p14="http://schemas.microsoft.com/office/powerpoint/2010/main" val="1520416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8F5"/>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BE1CCC7-611D-44A6-A9F6-9233AABED303}"/>
              </a:ext>
            </a:extLst>
          </p:cNvPr>
          <p:cNvSpPr>
            <a:spLocks noGrp="1"/>
          </p:cNvSpPr>
          <p:nvPr/>
        </p:nvSpPr>
        <p:spPr>
          <a:xfrm>
            <a:off x="609600" y="428625"/>
            <a:ext cx="10972800" cy="742950"/>
          </a:xfrm>
          <a:prstGeom prst="rect">
            <a:avLst/>
          </a:prstGeom>
          <a:noFill/>
          <a:ln w="0">
            <a:noFill/>
          </a:ln>
        </p:spPr>
        <p:txBody>
          <a:bodyPr/>
          <a:lstStyle>
            <a:defPPr>
              <a:defRPr sz="3300" b="1">
                <a:solidFill>
                  <a:srgbClr val="183C33"/>
                </a:solidFill>
                <a:latin typeface="Arial"/>
                <a:ea typeface="Arial"/>
                <a:cs typeface="Arial"/>
              </a:defRPr>
            </a:defPPr>
          </a:lstStyle>
          <a:p>
            <a:pPr>
              <a:defRPr sz="3300" b="1">
                <a:solidFill>
                  <a:srgbClr val="183C33"/>
                </a:solidFill>
                <a:latin typeface="Arial"/>
                <a:ea typeface="Arial"/>
                <a:cs typeface="Arial"/>
              </a:defRPr>
            </a:pPr>
            <a:r>
              <a:rPr sz="3300" b="1">
                <a:solidFill>
                  <a:srgbClr val="183C33"/>
                </a:solidFill>
                <a:latin typeface="Arial"/>
                <a:ea typeface="Arial"/>
                <a:cs typeface="Arial"/>
              </a:rPr>
              <a:t>Limitations and future work</a:t>
            </a:r>
          </a:p>
        </p:txBody>
      </p:sp>
      <p:sp>
        <p:nvSpPr>
          <p:cNvPr id="2" name="Rectangle 1">
            <a:extLst>
              <a:ext uri="{FF2B5EF4-FFF2-40B4-BE49-F238E27FC236}">
                <a16:creationId xmlns:a16="http://schemas.microsoft.com/office/drawing/2014/main" id="{03924234-E622-485E-B394-4557D933EEFA}"/>
              </a:ext>
            </a:extLst>
          </p:cNvPr>
          <p:cNvSpPr>
            <a:spLocks noGrp="1"/>
          </p:cNvSpPr>
          <p:nvPr/>
        </p:nvSpPr>
        <p:spPr>
          <a:xfrm>
            <a:off x="11049000" y="6305550"/>
            <a:ext cx="523875" cy="228600"/>
          </a:xfrm>
          <a:prstGeom prst="rect">
            <a:avLst/>
          </a:prstGeom>
          <a:noFill/>
          <a:ln w="0">
            <a:noFill/>
          </a:ln>
        </p:spPr>
        <p:txBody>
          <a:bodyPr/>
          <a:lstStyle>
            <a:defPPr>
              <a:defRPr sz="1275" b="0">
                <a:solidFill>
                  <a:srgbClr val="6B8078"/>
                </a:solidFill>
                <a:latin typeface="Arial"/>
                <a:ea typeface="Arial"/>
                <a:cs typeface="Arial"/>
              </a:defRPr>
            </a:defPPr>
          </a:lstStyle>
          <a:p>
            <a:pPr>
              <a:defRPr sz="1275" b="0">
                <a:solidFill>
                  <a:srgbClr val="6B8078"/>
                </a:solidFill>
                <a:latin typeface="Arial"/>
                <a:ea typeface="Arial"/>
                <a:cs typeface="Arial"/>
              </a:defRPr>
            </a:pPr>
            <a:r>
              <a:rPr sz="1275" b="0">
                <a:solidFill>
                  <a:srgbClr val="6B8078"/>
                </a:solidFill>
                <a:latin typeface="Arial"/>
                <a:ea typeface="Arial"/>
                <a:cs typeface="Arial"/>
              </a:rPr>
              <a:t>16</a:t>
            </a:r>
          </a:p>
        </p:txBody>
      </p:sp>
      <p:sp>
        <p:nvSpPr>
          <p:cNvPr id="3" name="Rectangle 2">
            <a:extLst>
              <a:ext uri="{FF2B5EF4-FFF2-40B4-BE49-F238E27FC236}">
                <a16:creationId xmlns:a16="http://schemas.microsoft.com/office/drawing/2014/main" id="{676DA957-6F79-4B64-9312-3C91993582F2}"/>
              </a:ext>
            </a:extLst>
          </p:cNvPr>
          <p:cNvSpPr>
            <a:spLocks noGrp="1"/>
          </p:cNvSpPr>
          <p:nvPr/>
        </p:nvSpPr>
        <p:spPr>
          <a:xfrm>
            <a:off x="609600" y="1666875"/>
            <a:ext cx="685800" cy="533400"/>
          </a:xfrm>
          <a:prstGeom prst="rect">
            <a:avLst/>
          </a:prstGeom>
          <a:noFill/>
          <a:ln w="0">
            <a:noFill/>
          </a:ln>
        </p:spPr>
        <p:txBody>
          <a:bodyPr/>
          <a:lstStyle>
            <a:defPPr>
              <a:defRPr sz="2550" b="1">
                <a:solidFill>
                  <a:srgbClr val="13694E"/>
                </a:solidFill>
                <a:latin typeface="Arial"/>
                <a:ea typeface="Arial"/>
                <a:cs typeface="Arial"/>
              </a:defRPr>
            </a:defPPr>
          </a:lstStyle>
          <a:p>
            <a:pPr>
              <a:defRPr sz="2550" b="1">
                <a:solidFill>
                  <a:srgbClr val="13694E"/>
                </a:solidFill>
                <a:latin typeface="Arial"/>
                <a:ea typeface="Arial"/>
                <a:cs typeface="Arial"/>
              </a:defRPr>
            </a:pPr>
            <a:r>
              <a:rPr sz="2550" b="1">
                <a:solidFill>
                  <a:srgbClr val="13694E"/>
                </a:solidFill>
                <a:latin typeface="Arial"/>
                <a:ea typeface="Arial"/>
                <a:cs typeface="Arial"/>
              </a:rPr>
              <a:t>01</a:t>
            </a:r>
          </a:p>
        </p:txBody>
      </p:sp>
      <p:sp>
        <p:nvSpPr>
          <p:cNvPr id="4" name="Rectangle 3">
            <a:extLst>
              <a:ext uri="{FF2B5EF4-FFF2-40B4-BE49-F238E27FC236}">
                <a16:creationId xmlns:a16="http://schemas.microsoft.com/office/drawing/2014/main" id="{EF42538E-30B9-441A-AD4E-7B037B1AD2BD}"/>
              </a:ext>
            </a:extLst>
          </p:cNvPr>
          <p:cNvSpPr>
            <a:spLocks noGrp="1"/>
          </p:cNvSpPr>
          <p:nvPr/>
        </p:nvSpPr>
        <p:spPr>
          <a:xfrm>
            <a:off x="1428750" y="1666875"/>
            <a:ext cx="3810000" cy="476250"/>
          </a:xfrm>
          <a:prstGeom prst="rect">
            <a:avLst/>
          </a:prstGeom>
          <a:noFill/>
          <a:ln w="0">
            <a:noFill/>
          </a:ln>
        </p:spPr>
        <p:txBody>
          <a:bodyPr/>
          <a:lstStyle>
            <a:defPPr>
              <a:defRPr sz="2175" b="1">
                <a:solidFill>
                  <a:srgbClr val="183C33"/>
                </a:solidFill>
                <a:latin typeface="Arial"/>
                <a:ea typeface="Arial"/>
                <a:cs typeface="Arial"/>
              </a:defRPr>
            </a:defPPr>
          </a:lstStyle>
          <a:p>
            <a:pPr>
              <a:defRPr sz="2175" b="1">
                <a:solidFill>
                  <a:srgbClr val="183C33"/>
                </a:solidFill>
                <a:latin typeface="Arial"/>
                <a:ea typeface="Arial"/>
                <a:cs typeface="Arial"/>
              </a:defRPr>
            </a:pPr>
            <a:r>
              <a:rPr sz="2175" b="1">
                <a:solidFill>
                  <a:srgbClr val="183C33"/>
                </a:solidFill>
                <a:latin typeface="Arial"/>
                <a:ea typeface="Arial"/>
                <a:cs typeface="Arial"/>
              </a:rPr>
              <a:t>Evidence coverage</a:t>
            </a:r>
          </a:p>
        </p:txBody>
      </p:sp>
      <p:sp>
        <p:nvSpPr>
          <p:cNvPr id="5" name="Rectangle 4">
            <a:extLst>
              <a:ext uri="{FF2B5EF4-FFF2-40B4-BE49-F238E27FC236}">
                <a16:creationId xmlns:a16="http://schemas.microsoft.com/office/drawing/2014/main" id="{C868A5BB-D5F3-4501-91DB-DBAE229900B5}"/>
              </a:ext>
            </a:extLst>
          </p:cNvPr>
          <p:cNvSpPr>
            <a:spLocks noGrp="1"/>
          </p:cNvSpPr>
          <p:nvPr/>
        </p:nvSpPr>
        <p:spPr>
          <a:xfrm>
            <a:off x="5381625" y="1666875"/>
            <a:ext cx="6076950" cy="857250"/>
          </a:xfrm>
          <a:prstGeom prst="rect">
            <a:avLst/>
          </a:prstGeom>
          <a:noFill/>
          <a:ln w="0">
            <a:noFill/>
          </a:ln>
        </p:spPr>
        <p:txBody>
          <a:bodyPr/>
          <a:lstStyle>
            <a:defPPr>
              <a:defRPr sz="1875" b="0">
                <a:solidFill>
                  <a:srgbClr val="405B53"/>
                </a:solidFill>
                <a:latin typeface="Arial"/>
                <a:ea typeface="Arial"/>
                <a:cs typeface="Arial"/>
              </a:defRPr>
            </a:defPPr>
          </a:lstStyle>
          <a:p>
            <a:pPr>
              <a:defRPr sz="1875" b="0">
                <a:solidFill>
                  <a:srgbClr val="405B53"/>
                </a:solidFill>
                <a:latin typeface="Arial"/>
                <a:ea typeface="Arial"/>
                <a:cs typeface="Arial"/>
              </a:defRPr>
            </a:pPr>
            <a:r>
              <a:rPr sz="1875" b="0">
                <a:solidFill>
                  <a:srgbClr val="405B53"/>
                </a:solidFill>
                <a:latin typeface="Arial"/>
                <a:ea typeface="Arial"/>
                <a:cs typeface="Arial"/>
              </a:rPr>
              <a:t>Expand registered sources and evaluate complete verification outcomes on labelled Bangla claims.</a:t>
            </a:r>
          </a:p>
        </p:txBody>
      </p:sp>
      <p:sp>
        <p:nvSpPr>
          <p:cNvPr id="6" name="Rectangle 5">
            <a:extLst>
              <a:ext uri="{FF2B5EF4-FFF2-40B4-BE49-F238E27FC236}">
                <a16:creationId xmlns:a16="http://schemas.microsoft.com/office/drawing/2014/main" id="{E8D2F890-37B2-495D-899A-E28195871919}"/>
              </a:ext>
            </a:extLst>
          </p:cNvPr>
          <p:cNvSpPr>
            <a:spLocks noGrp="1"/>
          </p:cNvSpPr>
          <p:nvPr/>
        </p:nvSpPr>
        <p:spPr>
          <a:xfrm>
            <a:off x="609600" y="2781300"/>
            <a:ext cx="685800" cy="533400"/>
          </a:xfrm>
          <a:prstGeom prst="rect">
            <a:avLst/>
          </a:prstGeom>
          <a:noFill/>
          <a:ln w="0">
            <a:noFill/>
          </a:ln>
        </p:spPr>
        <p:txBody>
          <a:bodyPr/>
          <a:lstStyle>
            <a:defPPr>
              <a:defRPr sz="2550" b="1">
                <a:solidFill>
                  <a:srgbClr val="13694E"/>
                </a:solidFill>
                <a:latin typeface="Arial"/>
                <a:ea typeface="Arial"/>
                <a:cs typeface="Arial"/>
              </a:defRPr>
            </a:defPPr>
          </a:lstStyle>
          <a:p>
            <a:pPr>
              <a:defRPr sz="2550" b="1">
                <a:solidFill>
                  <a:srgbClr val="13694E"/>
                </a:solidFill>
                <a:latin typeface="Arial"/>
                <a:ea typeface="Arial"/>
                <a:cs typeface="Arial"/>
              </a:defRPr>
            </a:pPr>
            <a:r>
              <a:rPr sz="2550" b="1">
                <a:solidFill>
                  <a:srgbClr val="13694E"/>
                </a:solidFill>
                <a:latin typeface="Arial"/>
                <a:ea typeface="Arial"/>
                <a:cs typeface="Arial"/>
              </a:rPr>
              <a:t>02</a:t>
            </a:r>
          </a:p>
        </p:txBody>
      </p:sp>
      <p:sp>
        <p:nvSpPr>
          <p:cNvPr id="7" name="Rectangle 6">
            <a:extLst>
              <a:ext uri="{FF2B5EF4-FFF2-40B4-BE49-F238E27FC236}">
                <a16:creationId xmlns:a16="http://schemas.microsoft.com/office/drawing/2014/main" id="{4A8BE37B-5558-44EA-8A47-5B52170E1C2C}"/>
              </a:ext>
            </a:extLst>
          </p:cNvPr>
          <p:cNvSpPr>
            <a:spLocks noGrp="1"/>
          </p:cNvSpPr>
          <p:nvPr/>
        </p:nvSpPr>
        <p:spPr>
          <a:xfrm>
            <a:off x="1428750" y="2781300"/>
            <a:ext cx="3810000" cy="476250"/>
          </a:xfrm>
          <a:prstGeom prst="rect">
            <a:avLst/>
          </a:prstGeom>
          <a:noFill/>
          <a:ln w="0">
            <a:noFill/>
          </a:ln>
        </p:spPr>
        <p:txBody>
          <a:bodyPr/>
          <a:lstStyle>
            <a:defPPr>
              <a:defRPr sz="2175" b="1">
                <a:solidFill>
                  <a:srgbClr val="183C33"/>
                </a:solidFill>
                <a:latin typeface="Arial"/>
                <a:ea typeface="Arial"/>
                <a:cs typeface="Arial"/>
              </a:defRPr>
            </a:defPPr>
          </a:lstStyle>
          <a:p>
            <a:pPr>
              <a:defRPr sz="2175" b="1">
                <a:solidFill>
                  <a:srgbClr val="183C33"/>
                </a:solidFill>
                <a:latin typeface="Arial"/>
                <a:ea typeface="Arial"/>
                <a:cs typeface="Arial"/>
              </a:defRPr>
            </a:pPr>
            <a:r>
              <a:rPr sz="2175" b="1">
                <a:solidFill>
                  <a:srgbClr val="183C33"/>
                </a:solidFill>
                <a:latin typeface="Arial"/>
                <a:ea typeface="Arial"/>
                <a:cs typeface="Arial"/>
              </a:rPr>
              <a:t>Photocard extraction</a:t>
            </a:r>
          </a:p>
        </p:txBody>
      </p:sp>
      <p:sp>
        <p:nvSpPr>
          <p:cNvPr id="8" name="Rectangle 7">
            <a:extLst>
              <a:ext uri="{FF2B5EF4-FFF2-40B4-BE49-F238E27FC236}">
                <a16:creationId xmlns:a16="http://schemas.microsoft.com/office/drawing/2014/main" id="{6ABDCF80-2EEE-4235-B128-3E008CECA26E}"/>
              </a:ext>
            </a:extLst>
          </p:cNvPr>
          <p:cNvSpPr>
            <a:spLocks noGrp="1"/>
          </p:cNvSpPr>
          <p:nvPr/>
        </p:nvSpPr>
        <p:spPr>
          <a:xfrm>
            <a:off x="5381625" y="2781300"/>
            <a:ext cx="6076950" cy="857250"/>
          </a:xfrm>
          <a:prstGeom prst="rect">
            <a:avLst/>
          </a:prstGeom>
          <a:noFill/>
          <a:ln w="0">
            <a:noFill/>
          </a:ln>
        </p:spPr>
        <p:txBody>
          <a:bodyPr/>
          <a:lstStyle>
            <a:defPPr>
              <a:defRPr sz="1875" b="0">
                <a:solidFill>
                  <a:srgbClr val="405B53"/>
                </a:solidFill>
                <a:latin typeface="Arial"/>
                <a:ea typeface="Arial"/>
                <a:cs typeface="Arial"/>
              </a:defRPr>
            </a:defPPr>
          </a:lstStyle>
          <a:p>
            <a:pPr>
              <a:defRPr sz="1875" b="0">
                <a:solidFill>
                  <a:srgbClr val="405B53"/>
                </a:solidFill>
                <a:latin typeface="Arial"/>
                <a:ea typeface="Arial"/>
                <a:cs typeface="Arial"/>
              </a:defRPr>
            </a:pPr>
            <a:r>
              <a:rPr sz="1875" b="0">
                <a:solidFill>
                  <a:srgbClr val="405B53"/>
                </a:solidFill>
                <a:latin typeface="Arial"/>
                <a:ea typeface="Arial"/>
                <a:cs typeface="Arial"/>
              </a:rPr>
              <a:t>Improve handling of unclear layouts, low-quality images and incomplete printed information.</a:t>
            </a:r>
          </a:p>
        </p:txBody>
      </p:sp>
      <p:sp>
        <p:nvSpPr>
          <p:cNvPr id="9" name="Rectangle 8">
            <a:extLst>
              <a:ext uri="{FF2B5EF4-FFF2-40B4-BE49-F238E27FC236}">
                <a16:creationId xmlns:a16="http://schemas.microsoft.com/office/drawing/2014/main" id="{3571683A-C5D2-4F48-A32C-B3893C562CF1}"/>
              </a:ext>
            </a:extLst>
          </p:cNvPr>
          <p:cNvSpPr>
            <a:spLocks noGrp="1"/>
          </p:cNvSpPr>
          <p:nvPr/>
        </p:nvSpPr>
        <p:spPr>
          <a:xfrm>
            <a:off x="609600" y="3895725"/>
            <a:ext cx="685800" cy="533400"/>
          </a:xfrm>
          <a:prstGeom prst="rect">
            <a:avLst/>
          </a:prstGeom>
          <a:noFill/>
          <a:ln w="0">
            <a:noFill/>
          </a:ln>
        </p:spPr>
        <p:txBody>
          <a:bodyPr/>
          <a:lstStyle>
            <a:defPPr>
              <a:defRPr sz="2550" b="1">
                <a:solidFill>
                  <a:srgbClr val="13694E"/>
                </a:solidFill>
                <a:latin typeface="Arial"/>
                <a:ea typeface="Arial"/>
                <a:cs typeface="Arial"/>
              </a:defRPr>
            </a:defPPr>
          </a:lstStyle>
          <a:p>
            <a:pPr>
              <a:defRPr sz="2550" b="1">
                <a:solidFill>
                  <a:srgbClr val="13694E"/>
                </a:solidFill>
                <a:latin typeface="Arial"/>
                <a:ea typeface="Arial"/>
                <a:cs typeface="Arial"/>
              </a:defRPr>
            </a:pPr>
            <a:r>
              <a:rPr sz="2550" b="1">
                <a:solidFill>
                  <a:srgbClr val="13694E"/>
                </a:solidFill>
                <a:latin typeface="Arial"/>
                <a:ea typeface="Arial"/>
                <a:cs typeface="Arial"/>
              </a:rPr>
              <a:t>03</a:t>
            </a:r>
          </a:p>
        </p:txBody>
      </p:sp>
      <p:sp>
        <p:nvSpPr>
          <p:cNvPr id="10" name="Rectangle 9">
            <a:extLst>
              <a:ext uri="{FF2B5EF4-FFF2-40B4-BE49-F238E27FC236}">
                <a16:creationId xmlns:a16="http://schemas.microsoft.com/office/drawing/2014/main" id="{1330C7B4-5944-4AC6-8925-22C772D0AD0E}"/>
              </a:ext>
            </a:extLst>
          </p:cNvPr>
          <p:cNvSpPr>
            <a:spLocks noGrp="1"/>
          </p:cNvSpPr>
          <p:nvPr/>
        </p:nvSpPr>
        <p:spPr>
          <a:xfrm>
            <a:off x="1428750" y="3895725"/>
            <a:ext cx="3810000" cy="476250"/>
          </a:xfrm>
          <a:prstGeom prst="rect">
            <a:avLst/>
          </a:prstGeom>
          <a:noFill/>
          <a:ln w="0">
            <a:noFill/>
          </a:ln>
        </p:spPr>
        <p:txBody>
          <a:bodyPr/>
          <a:lstStyle>
            <a:defPPr>
              <a:defRPr sz="2175" b="1">
                <a:solidFill>
                  <a:srgbClr val="183C33"/>
                </a:solidFill>
                <a:latin typeface="Arial"/>
                <a:ea typeface="Arial"/>
                <a:cs typeface="Arial"/>
              </a:defRPr>
            </a:defPPr>
          </a:lstStyle>
          <a:p>
            <a:pPr>
              <a:defRPr sz="2175" b="1">
                <a:solidFill>
                  <a:srgbClr val="183C33"/>
                </a:solidFill>
                <a:latin typeface="Arial"/>
                <a:ea typeface="Arial"/>
                <a:cs typeface="Arial"/>
              </a:defRPr>
            </a:pPr>
            <a:r>
              <a:rPr sz="2175" b="1">
                <a:solidFill>
                  <a:srgbClr val="183C33"/>
                </a:solidFill>
                <a:latin typeface="Arial"/>
                <a:ea typeface="Arial"/>
                <a:cs typeface="Arial"/>
              </a:rPr>
              <a:t>Processing time</a:t>
            </a:r>
          </a:p>
        </p:txBody>
      </p:sp>
      <p:sp>
        <p:nvSpPr>
          <p:cNvPr id="11" name="Rectangle 10">
            <a:extLst>
              <a:ext uri="{FF2B5EF4-FFF2-40B4-BE49-F238E27FC236}">
                <a16:creationId xmlns:a16="http://schemas.microsoft.com/office/drawing/2014/main" id="{DE105E3A-9DA6-48ED-82C8-20E1B33AC764}"/>
              </a:ext>
            </a:extLst>
          </p:cNvPr>
          <p:cNvSpPr>
            <a:spLocks noGrp="1"/>
          </p:cNvSpPr>
          <p:nvPr/>
        </p:nvSpPr>
        <p:spPr>
          <a:xfrm>
            <a:off x="5381625" y="3895725"/>
            <a:ext cx="6076950" cy="857250"/>
          </a:xfrm>
          <a:prstGeom prst="rect">
            <a:avLst/>
          </a:prstGeom>
          <a:noFill/>
          <a:ln w="0">
            <a:noFill/>
          </a:ln>
        </p:spPr>
        <p:txBody>
          <a:bodyPr/>
          <a:lstStyle>
            <a:defPPr>
              <a:defRPr sz="1875" b="0">
                <a:solidFill>
                  <a:srgbClr val="405B53"/>
                </a:solidFill>
                <a:latin typeface="Arial"/>
                <a:ea typeface="Arial"/>
                <a:cs typeface="Arial"/>
              </a:defRPr>
            </a:defPPr>
          </a:lstStyle>
          <a:p>
            <a:pPr>
              <a:defRPr sz="1875" b="0">
                <a:solidFill>
                  <a:srgbClr val="405B53"/>
                </a:solidFill>
                <a:latin typeface="Arial"/>
                <a:ea typeface="Arial"/>
                <a:cs typeface="Arial"/>
              </a:defRPr>
            </a:pPr>
            <a:r>
              <a:rPr sz="1875" b="0">
                <a:solidFill>
                  <a:srgbClr val="405B53"/>
                </a:solidFill>
                <a:latin typeface="Arial"/>
                <a:ea typeface="Arial"/>
                <a:cs typeface="Arial"/>
              </a:rPr>
              <a:t>Reduce retrieval and model latency, then measure behavior under concurrent load.</a:t>
            </a:r>
          </a:p>
        </p:txBody>
      </p:sp>
      <p:sp>
        <p:nvSpPr>
          <p:cNvPr id="12" name="Rectangle 11">
            <a:extLst>
              <a:ext uri="{FF2B5EF4-FFF2-40B4-BE49-F238E27FC236}">
                <a16:creationId xmlns:a16="http://schemas.microsoft.com/office/drawing/2014/main" id="{9AF0E24F-8B85-44E2-8D68-ACB310FB1E02}"/>
              </a:ext>
            </a:extLst>
          </p:cNvPr>
          <p:cNvSpPr>
            <a:spLocks noGrp="1"/>
          </p:cNvSpPr>
          <p:nvPr/>
        </p:nvSpPr>
        <p:spPr>
          <a:xfrm>
            <a:off x="609600" y="5010150"/>
            <a:ext cx="685800" cy="533400"/>
          </a:xfrm>
          <a:prstGeom prst="rect">
            <a:avLst/>
          </a:prstGeom>
          <a:noFill/>
          <a:ln w="0">
            <a:noFill/>
          </a:ln>
        </p:spPr>
        <p:txBody>
          <a:bodyPr/>
          <a:lstStyle>
            <a:defPPr>
              <a:defRPr sz="2550" b="1">
                <a:solidFill>
                  <a:srgbClr val="13694E"/>
                </a:solidFill>
                <a:latin typeface="Arial"/>
                <a:ea typeface="Arial"/>
                <a:cs typeface="Arial"/>
              </a:defRPr>
            </a:defPPr>
          </a:lstStyle>
          <a:p>
            <a:pPr>
              <a:defRPr sz="2550" b="1">
                <a:solidFill>
                  <a:srgbClr val="13694E"/>
                </a:solidFill>
                <a:latin typeface="Arial"/>
                <a:ea typeface="Arial"/>
                <a:cs typeface="Arial"/>
              </a:defRPr>
            </a:pPr>
            <a:r>
              <a:rPr sz="2550" b="1">
                <a:solidFill>
                  <a:srgbClr val="13694E"/>
                </a:solidFill>
                <a:latin typeface="Arial"/>
                <a:ea typeface="Arial"/>
                <a:cs typeface="Arial"/>
              </a:rPr>
              <a:t>04</a:t>
            </a:r>
          </a:p>
        </p:txBody>
      </p:sp>
      <p:sp>
        <p:nvSpPr>
          <p:cNvPr id="13" name="Rectangle 12">
            <a:extLst>
              <a:ext uri="{FF2B5EF4-FFF2-40B4-BE49-F238E27FC236}">
                <a16:creationId xmlns:a16="http://schemas.microsoft.com/office/drawing/2014/main" id="{7134750A-4CEF-4E74-A97E-CB04BE347C20}"/>
              </a:ext>
            </a:extLst>
          </p:cNvPr>
          <p:cNvSpPr>
            <a:spLocks noGrp="1"/>
          </p:cNvSpPr>
          <p:nvPr/>
        </p:nvSpPr>
        <p:spPr>
          <a:xfrm>
            <a:off x="1428750" y="5010150"/>
            <a:ext cx="3810000" cy="476250"/>
          </a:xfrm>
          <a:prstGeom prst="rect">
            <a:avLst/>
          </a:prstGeom>
          <a:noFill/>
          <a:ln w="0">
            <a:noFill/>
          </a:ln>
        </p:spPr>
        <p:txBody>
          <a:bodyPr/>
          <a:lstStyle>
            <a:defPPr>
              <a:defRPr sz="2175" b="1">
                <a:solidFill>
                  <a:srgbClr val="183C33"/>
                </a:solidFill>
                <a:latin typeface="Arial"/>
                <a:ea typeface="Arial"/>
                <a:cs typeface="Arial"/>
              </a:defRPr>
            </a:defPPr>
          </a:lstStyle>
          <a:p>
            <a:pPr>
              <a:defRPr sz="2175" b="1">
                <a:solidFill>
                  <a:srgbClr val="183C33"/>
                </a:solidFill>
                <a:latin typeface="Arial"/>
                <a:ea typeface="Arial"/>
                <a:cs typeface="Arial"/>
              </a:defRPr>
            </a:pPr>
            <a:r>
              <a:rPr sz="2175" b="1">
                <a:solidFill>
                  <a:srgbClr val="183C33"/>
                </a:solidFill>
                <a:latin typeface="Arial"/>
                <a:ea typeface="Arial"/>
                <a:cs typeface="Arial"/>
              </a:rPr>
              <a:t>Deployment readiness</a:t>
            </a:r>
          </a:p>
        </p:txBody>
      </p:sp>
      <p:sp>
        <p:nvSpPr>
          <p:cNvPr id="14" name="Rectangle 13">
            <a:extLst>
              <a:ext uri="{FF2B5EF4-FFF2-40B4-BE49-F238E27FC236}">
                <a16:creationId xmlns:a16="http://schemas.microsoft.com/office/drawing/2014/main" id="{72818615-3FE9-482B-959F-CCBB6737F5E4}"/>
              </a:ext>
            </a:extLst>
          </p:cNvPr>
          <p:cNvSpPr>
            <a:spLocks noGrp="1"/>
          </p:cNvSpPr>
          <p:nvPr/>
        </p:nvSpPr>
        <p:spPr>
          <a:xfrm>
            <a:off x="5381625" y="5010150"/>
            <a:ext cx="6076950" cy="857250"/>
          </a:xfrm>
          <a:prstGeom prst="rect">
            <a:avLst/>
          </a:prstGeom>
          <a:noFill/>
          <a:ln w="0">
            <a:noFill/>
          </a:ln>
        </p:spPr>
        <p:txBody>
          <a:bodyPr/>
          <a:lstStyle>
            <a:defPPr>
              <a:defRPr sz="1875" b="0">
                <a:solidFill>
                  <a:srgbClr val="405B53"/>
                </a:solidFill>
                <a:latin typeface="Arial"/>
                <a:ea typeface="Arial"/>
                <a:cs typeface="Arial"/>
              </a:defRPr>
            </a:defPPr>
          </a:lstStyle>
          <a:p>
            <a:pPr>
              <a:defRPr sz="1875" b="0">
                <a:solidFill>
                  <a:srgbClr val="405B53"/>
                </a:solidFill>
                <a:latin typeface="Arial"/>
                <a:ea typeface="Arial"/>
                <a:cs typeface="Arial"/>
              </a:defRPr>
            </a:pPr>
            <a:r>
              <a:rPr sz="1875" b="0">
                <a:solidFill>
                  <a:srgbClr val="405B53"/>
                </a:solidFill>
                <a:latin typeface="Arial"/>
                <a:ea typeface="Arial"/>
                <a:cs typeface="Arial"/>
              </a:rPr>
              <a:t>Extend real-model testing and validate a public deployment beyond the current local setup.</a:t>
            </a:r>
          </a:p>
        </p:txBody>
      </p:sp>
    </p:spTree>
    <p:extLst>
      <p:ext uri="{BB962C8B-B14F-4D97-AF65-F5344CB8AC3E}">
        <p14:creationId xmlns:p14="http://schemas.microsoft.com/office/powerpoint/2010/main" val="1335421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03D3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F78DF4-B774-4660-9340-B288E11785C0}"/>
              </a:ext>
            </a:extLst>
          </p:cNvPr>
          <p:cNvSpPr>
            <a:spLocks noGrp="1"/>
          </p:cNvSpPr>
          <p:nvPr/>
        </p:nvSpPr>
        <p:spPr>
          <a:xfrm>
            <a:off x="11049000" y="6305550"/>
            <a:ext cx="523875" cy="228600"/>
          </a:xfrm>
          <a:prstGeom prst="rect">
            <a:avLst/>
          </a:prstGeom>
          <a:noFill/>
          <a:ln w="0">
            <a:noFill/>
          </a:ln>
        </p:spPr>
        <p:txBody>
          <a:bodyPr/>
          <a:lstStyle>
            <a:defPPr>
              <a:defRPr sz="1275" b="0">
                <a:solidFill>
                  <a:srgbClr val="A9E4C7"/>
                </a:solidFill>
                <a:latin typeface="Arial"/>
                <a:ea typeface="Arial"/>
                <a:cs typeface="Arial"/>
              </a:defRPr>
            </a:defPPr>
          </a:lstStyle>
          <a:p>
            <a:pPr>
              <a:defRPr sz="1275" b="0">
                <a:solidFill>
                  <a:srgbClr val="A9E4C7"/>
                </a:solidFill>
                <a:latin typeface="Arial"/>
                <a:ea typeface="Arial"/>
                <a:cs typeface="Arial"/>
              </a:defRPr>
            </a:pPr>
            <a:r>
              <a:rPr sz="1275" b="0">
                <a:solidFill>
                  <a:srgbClr val="A9E4C7"/>
                </a:solidFill>
                <a:latin typeface="Arial"/>
                <a:ea typeface="Arial"/>
                <a:cs typeface="Arial"/>
              </a:rPr>
              <a:t>17</a:t>
            </a:r>
          </a:p>
        </p:txBody>
      </p:sp>
      <p:sp>
        <p:nvSpPr>
          <p:cNvPr id="7" name="Rectangle 6">
            <a:extLst>
              <a:ext uri="{FF2B5EF4-FFF2-40B4-BE49-F238E27FC236}">
                <a16:creationId xmlns:a16="http://schemas.microsoft.com/office/drawing/2014/main" id="{29CCE8FA-C8A7-4377-B06F-6FD556C9AF32}"/>
              </a:ext>
            </a:extLst>
          </p:cNvPr>
          <p:cNvSpPr>
            <a:spLocks noGrp="1"/>
          </p:cNvSpPr>
          <p:nvPr/>
        </p:nvSpPr>
        <p:spPr>
          <a:xfrm>
            <a:off x="4165963" y="3972300"/>
            <a:ext cx="2278380" cy="619125"/>
          </a:xfrm>
          <a:prstGeom prst="rect">
            <a:avLst/>
          </a:prstGeom>
          <a:noFill/>
          <a:ln w="0">
            <a:noFill/>
          </a:ln>
        </p:spPr>
        <p:txBody>
          <a:bodyPr/>
          <a:lstStyle>
            <a:defPPr>
              <a:defRPr sz="3150" b="1">
                <a:solidFill>
                  <a:srgbClr val="FFFFFF"/>
                </a:solidFill>
                <a:latin typeface="Arial"/>
                <a:ea typeface="Arial"/>
                <a:cs typeface="Arial"/>
              </a:defRPr>
            </a:defPPr>
          </a:lstStyle>
          <a:p>
            <a:pPr>
              <a:defRPr sz="3150" b="1">
                <a:solidFill>
                  <a:srgbClr val="FFFFFF"/>
                </a:solidFill>
                <a:latin typeface="Arial"/>
                <a:ea typeface="Arial"/>
                <a:cs typeface="Arial"/>
              </a:defRPr>
            </a:pPr>
            <a:r>
              <a:rPr sz="3150" b="1" dirty="0">
                <a:solidFill>
                  <a:srgbClr val="FFFFFF"/>
                </a:solidFill>
                <a:latin typeface="Arial"/>
                <a:ea typeface="Arial"/>
                <a:cs typeface="Arial"/>
              </a:rPr>
              <a:t>Questions</a:t>
            </a:r>
          </a:p>
        </p:txBody>
      </p:sp>
      <p:sp>
        <p:nvSpPr>
          <p:cNvPr id="9" name="TextBox 8">
            <a:extLst>
              <a:ext uri="{FF2B5EF4-FFF2-40B4-BE49-F238E27FC236}">
                <a16:creationId xmlns:a16="http://schemas.microsoft.com/office/drawing/2014/main" id="{DEE9014A-406D-453D-C109-B546B7AA5766}"/>
              </a:ext>
            </a:extLst>
          </p:cNvPr>
          <p:cNvSpPr txBox="1"/>
          <p:nvPr/>
        </p:nvSpPr>
        <p:spPr>
          <a:xfrm>
            <a:off x="3204754" y="2631996"/>
            <a:ext cx="6287589" cy="1107996"/>
          </a:xfrm>
          <a:prstGeom prst="rect">
            <a:avLst/>
          </a:prstGeom>
          <a:noFill/>
        </p:spPr>
        <p:txBody>
          <a:bodyPr wrap="square" rtlCol="0">
            <a:spAutoFit/>
          </a:bodyPr>
          <a:lstStyle/>
          <a:p>
            <a:r>
              <a:rPr lang="en-US" sz="6600" b="1" dirty="0">
                <a:solidFill>
                  <a:schemeClr val="bg1"/>
                </a:solidFill>
              </a:rPr>
              <a:t>Thank You</a:t>
            </a:r>
          </a:p>
        </p:txBody>
      </p:sp>
    </p:spTree>
    <p:extLst>
      <p:ext uri="{BB962C8B-B14F-4D97-AF65-F5344CB8AC3E}">
        <p14:creationId xmlns:p14="http://schemas.microsoft.com/office/powerpoint/2010/main" val="62872400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1804</Words>
  <Application>Microsoft Office PowerPoint</Application>
  <DocSecurity>0</DocSecurity>
  <PresentationFormat>Widescreen</PresentationFormat>
  <Paragraphs>207</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 Abul Kalam Azad</cp:lastModifiedBy>
  <cp:revision>1</cp:revision>
  <dcterms:created xsi:type="dcterms:W3CDTF">2026-10-10T14:46:37Z</dcterms:created>
  <dcterms:modified xsi:type="dcterms:W3CDTF">2026-10-10T23:10:12Z</dcterms:modified>
</cp:coreProperties>
</file>